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169164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600">
                <a:solidFill>
                  <a:srgbClr val="FFFFFF"/>
                </a:solidFill>
                <a:latin typeface="微软雅黑"/>
              </a:rPr>
              <a:t>dchat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278892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600">
                <a:solidFill>
                  <a:srgbClr val="A9C2E8"/>
                </a:solidFill>
                <a:latin typeface="微软雅黑"/>
              </a:rPr>
              <a:t>一个自研的局域网 / 公网聊天室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34290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>
                <a:solidFill>
                  <a:srgbClr val="8FADD8"/>
                </a:solidFill>
                <a:latin typeface="微软雅黑"/>
              </a:rPr>
              <a:t>Windows · 安卓 · Linux · macOS 四端互通 · 端到端加密 · 逐行手写的协议</a:t>
            </a:r>
          </a:p>
        </p:txBody>
      </p:sp>
      <p:sp>
        <p:nvSpPr>
          <p:cNvPr id="6" name="Rectangle 5"/>
          <p:cNvSpPr/>
          <p:nvPr/>
        </p:nvSpPr>
        <p:spPr>
          <a:xfrm>
            <a:off x="1051560" y="4206240"/>
            <a:ext cx="2926080" cy="381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457200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>
                <a:solidFill>
                  <a:srgbClr val="C7D7EF"/>
                </a:solidFill>
                <a:latin typeface="微软雅黑"/>
              </a:rPr>
              <a:t>项目介绍 · 功能与架构 · 开发过程梗概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>
                <a:solidFill>
                  <a:srgbClr val="C7D7EF"/>
                </a:solidFill>
                <a:latin typeface="微软雅黑"/>
              </a:rPr>
              <a:t>以及 AI 在整个过程中的使用情况与真实复盘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5870448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>
                <a:solidFill>
                  <a:srgbClr val="7E9BC6"/>
                </a:solidFill>
                <a:latin typeface="微软雅黑"/>
              </a:rPr>
              <a:t>github.com/dongfang20101113/DChat   ·   69 次提交 / 9 天   ·   四端自有代码 2.27 万行（实现 + 测试 + 安卓）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619963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>
                <a:solidFill>
                  <a:srgbClr val="7E9BC6"/>
                </a:solidFill>
                <a:latin typeface="微软雅黑"/>
              </a:rPr>
              <a:t>2115 项测试全过   ·   端到端加密   ·   压测与攻击实测防护生效   ·   内存稳定 10 MB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  <p:bldP spid="5" grpId="0"/>
      <p:bldP spid="7" grpId="0"/>
      <p:bldP spid="8" grpId="0"/>
      <p:bldP spid="9" grpId="0"/>
    </p:bld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这个项目是什么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一句话：不依赖任何聊天框架，从协议到加密自己搭的四端聊天系统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500">
                <a:solidFill>
                  <a:srgbClr val="16284A"/>
                </a:solidFill>
                <a:latin typeface="微软雅黑"/>
              </a:rPr>
              <a:t>定位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局域网里几个人就能开聊；配上端口映射也能跑公网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服务端一个人跑，客户端随手拷走就能用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四端互通：Windows、安卓、Linux、macOS 互发消息 / 文件 / 语音</a:t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500">
                <a:solidFill>
                  <a:srgbClr val="202938"/>
                </a:solidFill>
                <a:latin typeface="微软雅黑"/>
              </a:rPr>
              <a:t/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500">
                <a:solidFill>
                  <a:srgbClr val="16284A"/>
                </a:solidFill>
                <a:latin typeface="微软雅黑"/>
              </a:rPr>
              <a:t>技术上刻意选择的难点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协议自己定：行式 UTF-8，每行一条命令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加密自己做：ECDH 握手 + AES-256-GCM，不发明原语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四端字节级一致：同一条消息在四端解出来必须一模一样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界面自己画：桌面端 GDI+ 自绘气泡，不用现成 UI 框架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0" y="1234440"/>
            <a:ext cx="5212080" cy="2148840"/>
          </a:xfrm>
          <a:prstGeom prst="rect">
            <a:avLst/>
          </a:prstGeom>
          <a:solidFill>
            <a:srgbClr val="E6F6EE"/>
          </a:solidFill>
          <a:ln w="15875">
            <a:solidFill>
              <a:srgbClr val="168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47104" y="1325880"/>
            <a:ext cx="49194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>
                <a:solidFill>
                  <a:srgbClr val="168A57"/>
                </a:solidFill>
                <a:latin typeface="微软雅黑"/>
              </a:rPr>
              <a:t>它不是玩具的地方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47104" y="1691640"/>
            <a:ext cx="4919472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有账号体系：PBKDF2 加盐哈希，不存明文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有公网加固：连接数上限、防爆破、握手超时、限速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有 TOFU：记住服务器指纹，指纹变了会明确警告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有测试：四端合计 2115 项检查（C++ 1787 + 安卓 328）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3566160"/>
            <a:ext cx="5212080" cy="2240280"/>
          </a:xfrm>
          <a:prstGeom prst="rect">
            <a:avLst/>
          </a:prstGeom>
          <a:solidFill>
            <a:srgbClr val="FDF4E2"/>
          </a:solidFill>
          <a:ln w="15875">
            <a:solidFill>
              <a:srgbClr val="B06C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547104" y="3657600"/>
            <a:ext cx="49194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>
                <a:solidFill>
                  <a:srgbClr val="B06C0C"/>
                </a:solidFill>
                <a:latin typeface="微软雅黑"/>
              </a:rPr>
              <a:t>代码规模（实测，不含 build 产物）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47104" y="4023360"/>
            <a:ext cx="4919472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C++ 协议层 + 服务端 + 客户端：17,817 行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安卓 Kotlin：10,853 行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测试代码：4,064 行（16 个测试程序）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另有工具脚本 5,190 行（压测、画图、打包）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5" grpId="0"/>
      <p:bldP spid="6" grpId="0"/>
      <p:bldP spid="8" grpId="0"/>
      <p:bldP spid="9" grpId="0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整体架构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四个客户端共用一份协议层源码，服务端三端都能跑</a:t>
            </a:r>
          </a:p>
        </p:txBody>
      </p:sp>
      <p:pic>
        <p:nvPicPr>
          <p:cNvPr id="3" name="Picture 2" descr="diagram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6548" y="1097280"/>
            <a:ext cx="8654142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66928" y="6053328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200">
                <a:solidFill>
                  <a:srgbClr val="6C7584"/>
                </a:solidFill>
                <a:latin typeface="微软雅黑"/>
              </a:rPr>
              <a:t>Windows / Linux / macOS 三个客户端与服务端共用同一份 C++ 协议层；安卓端是 Kotlin 重写，靠同一套测试向量保证行为一致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功能一览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四端都有的功能，以及各自特有的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66928" y="1188720"/>
          <a:ext cx="11064239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39"/>
                <a:gridCol w="1828800"/>
                <a:gridCol w="1828800"/>
                <a:gridCol w="1828800"/>
                <a:gridCol w="1828800"/>
              </a:tblGrid>
              <a:tr h="39901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</a:rPr>
                        <a:t>功能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</a:rPr>
                        <a:t>Windows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</a:rPr>
                        <a:t>安卓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</a:rPr>
                        <a:t>Linux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</a:rPr>
                        <a:t>macOS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连接 / 注册 / 登录 / 改密码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群聊 + 多行消息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彩色文字（&amp;a 快捷色 / #rrggbb）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 + 取色盘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 + 取色盘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文件上传下载（含进度、重名处理）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语音消息（录制 / 播放 / 自动下载）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未测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表情与贴纸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贴纸按附件收发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贴纸按附件收发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指令 + Tab 补全 / 历史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图片与视频缩略图预览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有（系统缩略图）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无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无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深色模式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跟随系统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跟随系统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跟随终端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跟随系统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3990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界面形态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Win32 自绘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Compose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终端 TUI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Cocoa 原生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66928" y="6053328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200">
                <a:solidFill>
                  <a:srgbClr val="6C7584"/>
                </a:solidFill>
                <a:latin typeface="微软雅黑"/>
              </a:rPr>
              <a:t>Linux 端是终端界面，因此没有图片预览；贴纸按普通附件收发，不做内联渲染。macOS 的语音消息这一项没测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界面实拍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左边是桌面端的界面效果图（离屏渲染，复用真界面的配色与字号）</a:t>
            </a:r>
          </a:p>
        </p:txBody>
      </p:sp>
      <p:pic>
        <p:nvPicPr>
          <p:cNvPr id="3" name="Picture 2" descr="ui-proposal-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4523" y="1143000"/>
            <a:ext cx="5860472" cy="4114800"/>
          </a:xfrm>
          <a:prstGeom prst="rect">
            <a:avLst/>
          </a:prstGeom>
        </p:spPr>
      </p:pic>
      <p:pic>
        <p:nvPicPr>
          <p:cNvPr id="4" name="Picture 3" descr="chat-phone-393x851-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82492" y="1143000"/>
            <a:ext cx="1900254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6053328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200">
                <a:solidFill>
                  <a:srgbClr val="6C7584"/>
                </a:solidFill>
                <a:latin typeface="微软雅黑"/>
              </a:rPr>
              <a:t>安卓截图由 Robolectric 在真实布局上渲染得出，不是手绘示意图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  <p:bldP spid="5" grpId="0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协议设计：为什么选行式文本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简单到能用肉眼调试，是这个项目最重要的一个决定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88720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400">
                <a:solidFill>
                  <a:srgbClr val="16284A"/>
                </a:solidFill>
                <a:latin typeface="微软雅黑"/>
              </a:rPr>
              <a:t>每行一条命令，UTF-8 编码，单行 4096 字节上限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· 例：SAY 小明 你好、MSG 你好、FILE_SEND F1 名字 大小 voice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· 好处一：能用 telnet / nc 直接手工测，不用抓包解密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· 好处二：加字段只要追加在末尾，老客户端读到旧的格数就停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· 好处三：实现只有两份（C++ 与 Kotlin），macOS 直接复用 C++ 那份</a:t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400">
                <a:solidFill>
                  <a:srgbClr val="202938"/>
                </a:solidFill>
                <a:latin typeface="微软雅黑"/>
              </a:rPr>
              <a:t/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400">
                <a:solidFill>
                  <a:srgbClr val="B03A2B"/>
                </a:solidFill>
                <a:latin typeface="微软雅黑"/>
              </a:rPr>
              <a:t>踩过的坑：字段是「按位置」解析的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· 附件的种类放在第 7 格（追加），绝不能插到中间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· 一旦插错位置，老客户端会把标记当成字节数去解析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· 所以连注释里都写死了：只追加、不重排</a:t>
            </a:r>
          </a:p>
        </p:txBody>
      </p:sp>
      <p:sp>
        <p:nvSpPr>
          <p:cNvPr id="4" name="Rectangle 3"/>
          <p:cNvSpPr/>
          <p:nvPr/>
        </p:nvSpPr>
        <p:spPr>
          <a:xfrm>
            <a:off x="6446520" y="1188720"/>
            <a:ext cx="5166360" cy="2286000"/>
          </a:xfrm>
          <a:prstGeom prst="rect">
            <a:avLst/>
          </a:prstGeom>
          <a:solidFill>
            <a:srgbClr val="E8F1FE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92824" y="1280160"/>
            <a:ext cx="48737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>
                <a:solidFill>
                  <a:srgbClr val="1F6FEB"/>
                </a:solidFill>
                <a:latin typeface="微软雅黑"/>
              </a:rPr>
              <a:t>附件种类字段（四端一致）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92824" y="1645920"/>
            <a:ext cx="4873752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0 / file    → 普通文件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1 / sticker → 贴纸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voice       → 语音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/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判定只看这一格，不看扩展名——安卓录的是 .m4a、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桌面端是 .wav，扩展名根本不可靠。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446520" y="3657600"/>
            <a:ext cx="5166360" cy="2148840"/>
          </a:xfrm>
          <a:prstGeom prst="rect">
            <a:avLst/>
          </a:prstGeom>
          <a:solidFill>
            <a:srgbClr val="FDF4E2"/>
          </a:solidFill>
          <a:ln w="15875">
            <a:solidFill>
              <a:srgbClr val="B06C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592824" y="3749039"/>
            <a:ext cx="48737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>
                <a:solidFill>
                  <a:srgbClr val="B06C0C"/>
                </a:solidFill>
                <a:latin typeface="微软雅黑"/>
              </a:rPr>
              <a:t>彩色文字的语法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2824" y="4114800"/>
            <a:ext cx="4873752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&amp;a        快捷色（十六个，四端颜色表完全相同）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&amp;#ff8800  真彩色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&amp;&amp;        一个字面量 &amp;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/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服务器关掉彩色聊天时，色码原样显示而不是被吃掉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——否则用户会以为自己的字被吞了。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5" grpId="0"/>
      <p:bldP spid="6" grpId="0"/>
      <p:bldP spid="8" grpId="0"/>
      <p:bldP spid="9" grpId="0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加密设计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ECDH P-256 握手 → HKDF-SHA256 派生 → AES-256-GCM 会话加密</a:t>
            </a:r>
          </a:p>
        </p:txBody>
      </p:sp>
      <p:pic>
        <p:nvPicPr>
          <p:cNvPr id="3" name="Picture 2" descr="diagram-handshak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3080" y="1051560"/>
            <a:ext cx="8686800" cy="41148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7200" y="5257800"/>
            <a:ext cx="5532120" cy="1234440"/>
          </a:xfrm>
          <a:prstGeom prst="rect">
            <a:avLst/>
          </a:prstGeom>
          <a:solidFill>
            <a:srgbClr val="E6F6EE"/>
          </a:solidFill>
          <a:ln w="15875">
            <a:solidFill>
              <a:srgbClr val="168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03504" y="5349240"/>
            <a:ext cx="52395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>
                <a:solidFill>
                  <a:srgbClr val="168A57"/>
                </a:solidFill>
                <a:latin typeface="微软雅黑"/>
              </a:rPr>
              <a:t>保护什么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3504" y="5715000"/>
            <a:ext cx="523951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被动窃听：抓包看不到密码和聊天内容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篡改：GCM 自带认证，改一个字节就解不开</a:t>
            </a:r>
          </a:p>
        </p:txBody>
      </p:sp>
      <p:sp>
        <p:nvSpPr>
          <p:cNvPr id="7" name="Rectangle 6"/>
          <p:cNvSpPr/>
          <p:nvPr/>
        </p:nvSpPr>
        <p:spPr>
          <a:xfrm>
            <a:off x="6263640" y="5257800"/>
            <a:ext cx="5532120" cy="1234440"/>
          </a:xfrm>
          <a:prstGeom prst="rect">
            <a:avLst/>
          </a:prstGeom>
          <a:solidFill>
            <a:srgbClr val="FDECEA"/>
          </a:solidFill>
          <a:ln w="15875">
            <a:solidFill>
              <a:srgbClr val="B03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409944" y="5349240"/>
            <a:ext cx="52395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>
                <a:solidFill>
                  <a:srgbClr val="B03A2B"/>
                </a:solidFill>
                <a:latin typeface="微软雅黑"/>
              </a:rPr>
              <a:t>不保护什么（写进代码注释了）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9944" y="5715000"/>
            <a:ext cx="523951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主动中间人：裸 ECDH 没有身份认证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所以有 TOFU：第一次记住指纹，之后每次比对，变了就警告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5" grpId="0"/>
      <p:bldP spid="6" grpId="0"/>
      <p:bldP spid="8" grpId="0"/>
      <p:bldP spid="9" grpId="0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四端一致：三处必须字节级相同的约定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这三条任何一条错了，都是「不报错、只是永远连不上」的那种 bug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642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500">
                <a:solidFill>
                  <a:srgbClr val="16284A"/>
                </a:solidFill>
                <a:latin typeface="微软雅黑"/>
              </a:rPr>
              <a:t>约定一：ECDH 共享密钥用大端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Windows 的 CNG 返回小端，必须翻转；OpenSSL 本来就是大端，绝不能翻</a:t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500">
                <a:solidFill>
                  <a:srgbClr val="16284A"/>
                </a:solidFill>
                <a:latin typeface="微软雅黑"/>
              </a:rPr>
              <a:t>约定二：公钥在线路上是裸的 X‖Y（各 32 字节）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不能带 BCRYPT_ECCKEY_BLOB 那种平台专有的头部</a:t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500">
                <a:solidFill>
                  <a:srgbClr val="16284A"/>
                </a:solidFill>
                <a:latin typeface="微软雅黑"/>
              </a:rPr>
              <a:t>约定三：AES-GCM 的输出是「密文在前、16 字节标签在后」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必须和 Java 的 Cipher.doFinal 一致，否则安卓端解不开</a:t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500">
                <a:solidFill>
                  <a:srgbClr val="202938"/>
                </a:solidFill>
                <a:latin typeface="微软雅黑"/>
              </a:rPr>
              <a:t/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500">
                <a:solidFill>
                  <a:srgbClr val="B03A2B"/>
                </a:solidFill>
                <a:latin typeface="微软雅黑"/>
              </a:rPr>
              <a:t>为什么反复强调：错了不会崩、不会报错，只会「握手看起来成功了但消息是乱码」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服务端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Windows 和 Linux 跑同一份源码，只换 socket 层和加密后端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8872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400">
                <a:solidFill>
                  <a:srgbClr val="16284A"/>
                </a:solidFill>
                <a:latin typeface="微软雅黑"/>
              </a:rPr>
              <a:t>并发模型：每个连接一个线程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· 聊天是低并发 IO，线程模型足够，也不需要 epoll 的复杂度</a:t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400">
                <a:solidFill>
                  <a:srgbClr val="202938"/>
                </a:solidFill>
                <a:latin typeface="微软雅黑"/>
              </a:rPr>
              <a:t/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400">
                <a:solidFill>
                  <a:srgbClr val="16284A"/>
                </a:solidFill>
                <a:latin typeface="微软雅黑"/>
              </a:rPr>
              <a:t>账号与安全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· PBKDF2-HMAC-SHA256 加盐，落盘的只有哈希和盐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· 身份密钥落盘（标量 + 公钥的十六进制），TOFU 才有意义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· 公网加固：连接数上限、单 IP 上限、登录失败封禁、握手超时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· 可调规则：限速、文本长度与行数、暂存附件保留时长</a:t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400">
                <a:solidFill>
                  <a:srgbClr val="202938"/>
                </a:solidFill>
                <a:latin typeface="微软雅黑"/>
              </a:rPr>
              <a:t/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400">
                <a:solidFill>
                  <a:srgbClr val="16284A"/>
                </a:solidFill>
                <a:latin typeface="微软雅黑"/>
              </a:rPr>
              <a:t>控制台指令：/ban /kick /op /say /chatrule /ip 等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0" y="1188720"/>
            <a:ext cx="5212080" cy="2103120"/>
          </a:xfrm>
          <a:prstGeom prst="rect">
            <a:avLst/>
          </a:prstGeom>
          <a:solidFill>
            <a:srgbClr val="E8F1FE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47104" y="1280160"/>
            <a:ext cx="49194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>
                <a:solidFill>
                  <a:srgbClr val="1F6FEB"/>
                </a:solidFill>
                <a:latin typeface="微软雅黑"/>
              </a:rPr>
              <a:t>跨平台移植只动了两个地方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47104" y="1645920"/>
            <a:ext cx="4919472" cy="1554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socket 层：Winsock → POSIX（封在 socket_util.h 后面）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加密后端：CNG → OpenSSL（封在 crypto_backend.h 后面）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/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业务代码一个字没改——移植点越少，越不容易改出新 bug。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3520440"/>
            <a:ext cx="5212080" cy="2286000"/>
          </a:xfrm>
          <a:prstGeom prst="rect">
            <a:avLst/>
          </a:prstGeom>
          <a:solidFill>
            <a:srgbClr val="FDECEA"/>
          </a:solidFill>
          <a:ln w="15875">
            <a:solidFill>
              <a:srgbClr val="B03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547104" y="3611880"/>
            <a:ext cx="49194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>
                <a:solidFill>
                  <a:srgbClr val="B03A2B"/>
                </a:solidFill>
                <a:latin typeface="微软雅黑"/>
              </a:rPr>
              <a:t>被 socket 层挡住的两个坑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47104" y="3977639"/>
            <a:ext cx="4919472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SIGPIPE：Linux 上往已关闭的连接写，默认直接杀掉整个进程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→ 所有发送都走带 MSG_NOSIGNAL 的封装，绝不裸调 send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/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keepalive：Windows 用 WSAIoctl 一次设好，Linux 要三个独立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setsockopt → 数值定成同一组，两端发现死连接的时间才一致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5" grpId="0"/>
      <p:bldP spid="6" grpId="0"/>
      <p:bldP spid="8" grpId="0"/>
      <p:bldP spid="9" grpId="0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开发过程梗概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69 次提交、9 天，按提交信息可以分成八个阶段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66928" y="1188720"/>
          <a:ext cx="11064239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1666"/>
                <a:gridCol w="6396513"/>
                <a:gridCol w="2766060"/>
              </a:tblGrid>
              <a:tr h="5080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</a:rPr>
                        <a:t>阶段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</a:rPr>
                        <a:t>做了什么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</a:rPr>
                        <a:t>关键产物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第 1 天  起步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局域网聊天室：C++ 客户端 + 服务端，先跑通再说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协议层、自定义气泡界面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第 1 天  第二个端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安卓客户端（Kotlin + Compose）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三端格局成型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第 2 天  公网加固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限速、文本限制、多行消息、连接数上限、防爆破、握手超时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可调规则系统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第 3 天  加密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ECDH + HKDF + AES-GCM，从协议层一路接到三端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TOFU 指纹闭环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第 4~5 天  功能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表情、贴纸、语音（录制/播放/自动下载）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附件种类字段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第 6 天  界面返工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重新设计桌面端界面：菜单栏、齿轮设置、＋菜单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离屏渲染效果图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第 7 天  彩蛋与修复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彩色文字代码端到端；修 6 处用户反馈 + 1 处自己引入的回归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取色盘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第 8~9 天  第三个端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Linux：加密后端抽象、服务端移植、终端客户端、预编译包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741 项 Linux 检查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66928" y="6053328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200">
                <a:solidFill>
                  <a:srgbClr val="6C7584"/>
                </a:solidFill>
                <a:latin typeface="微软雅黑"/>
              </a:rPr>
              <a:t>时间按提交日期归并，不是精确工时；阶段划分依据是提交信息里能看出的功能边界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开发过程的几个转折点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哪些决定改变了后面的走向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88720"/>
            <a:ext cx="11064240" cy="1115568"/>
          </a:xfrm>
          <a:prstGeom prst="rect">
            <a:avLst/>
          </a:prstGeom>
          <a:solidFill>
            <a:srgbClr val="FFFFFF"/>
          </a:solidFill>
          <a:ln w="15875">
            <a:solidFill>
              <a:srgbClr val="168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77240" y="1261872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>
                <a:solidFill>
                  <a:srgbClr val="168A57"/>
                </a:solidFill>
                <a:latin typeface="微软雅黑"/>
              </a:rPr>
              <a:t>加密放在第 3 天，而不是第 1 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00784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>
                <a:solidFill>
                  <a:srgbClr val="202938"/>
                </a:solidFill>
                <a:latin typeface="微软雅黑"/>
              </a:rPr>
              <a:t>先把聊天跑通、把协议摸熟，再套加密。反过来做的话，每次调协议都要先怀疑是不是加密错了。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414016"/>
            <a:ext cx="11064240" cy="1115568"/>
          </a:xfrm>
          <a:prstGeom prst="rect">
            <a:avLst/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77240" y="248716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>
                <a:solidFill>
                  <a:srgbClr val="1F6FEB"/>
                </a:solidFill>
                <a:latin typeface="微软雅黑"/>
              </a:rPr>
              <a:t>先把「种类字段」立起来，再加功能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926080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>
                <a:solidFill>
                  <a:srgbClr val="202938"/>
                </a:solidFill>
                <a:latin typeface="微软雅黑"/>
              </a:rPr>
              <a:t>表情、贴纸、语音三个功能都靠附件这一条路径。先定好那一格怎么扩，后面三个功能都是小改动。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639312"/>
            <a:ext cx="11064240" cy="1115568"/>
          </a:xfrm>
          <a:prstGeom prst="rect">
            <a:avLst/>
          </a:prstGeom>
          <a:solidFill>
            <a:srgbClr val="FFFFFF"/>
          </a:solidFill>
          <a:ln w="15875">
            <a:solidFill>
              <a:srgbClr val="B06C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77240" y="3712464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>
                <a:solidFill>
                  <a:srgbClr val="B06C0C"/>
                </a:solidFill>
                <a:latin typeface="微软雅黑"/>
              </a:rPr>
              <a:t>界面被退回重做两次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151376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>
                <a:solidFill>
                  <a:srgbClr val="202938"/>
                </a:solidFill>
                <a:latin typeface="微软雅黑"/>
              </a:rPr>
              <a:t>第一版太朴素、第二版太密集。用户直接说「太丑」「太挤」，于是先用离屏渲染出三套方案，选完再写。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4864608"/>
            <a:ext cx="11064240" cy="1115568"/>
          </a:xfrm>
          <a:prstGeom prst="rect">
            <a:avLst/>
          </a:prstGeom>
          <a:solidFill>
            <a:srgbClr val="FFFFFF"/>
          </a:solidFill>
          <a:ln w="15875">
            <a:solidFill>
              <a:srgbClr val="B03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77240" y="4937760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>
                <a:solidFill>
                  <a:srgbClr val="B03A2B"/>
                </a:solidFill>
                <a:latin typeface="微软雅黑"/>
              </a:rPr>
              <a:t>Linux 端放最后，并且先做密码学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376672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>
                <a:solidFill>
                  <a:srgbClr val="202938"/>
                </a:solidFill>
                <a:latin typeface="微软雅黑"/>
              </a:rPr>
              <a:t>真正的风险不是界面，是「各端算出来的字节不一样」。所以第一步就是抽象加密后端 + 跑同一套测试向量。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  <p:bldP spid="5" grpId="0"/>
      <p:bldP spid="7" grpId="0"/>
      <p:bldP spid="8" grpId="0"/>
      <p:bldP spid="10" grpId="0"/>
      <p:bldP spid="11" grpId="0"/>
      <p:bldP spid="13" grpId="0"/>
      <p:bldP spid="14" grpId="0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怎么证明它是对的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这个项目里「验证」和「写代码」花的力气差不多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66928" y="1188720"/>
          <a:ext cx="11064238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79"/>
                <a:gridCol w="7223759"/>
              </a:tblGrid>
              <a:tr h="4978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</a:rPr>
                        <a:t>验证手段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</a:rPr>
                        <a:t>规模 / 结果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Windows 端 16 个测试程序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966 项检查，全部通过；构建 0 告警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Linux 端 10 个测试程序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785 项检查，全部通过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安卓端单元测试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328 个测试、19 个测试类，全部通过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密码学测试向量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HKDF 对 RFC 5869、AES-GCM 对 NIST、ECDH 固定向量、与 Kotlin 跨语言比对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四端互通实测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四端同服务器互相收发；macOS ↔ Windows / Linux / Android 双向互发、附件互传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文件传输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200 KB 随机文件往返，MD5 逐字节一致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语音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虚拟机里真录音 3 秒 → 上传成功；WAV 时长解析在真实录音上 1/2/5 秒全对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预编译包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从 tar 包解出来直接跑，全程无 cmake、不装任何依赖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66928" y="6053328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200">
                <a:solidFill>
                  <a:srgbClr val="6C7584"/>
                </a:solidFill>
                <a:latin typeface="微软雅黑"/>
              </a:rPr>
              <a:t>测试能跑起来，是后面所有「修 bug」动作的前提——没有测试就只能靠肉眼猜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安全设计：纵深防御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没有单点神话，是四层叠起来——每一层都假设上一层可能被绕过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70432"/>
            <a:ext cx="11064240" cy="1042415"/>
          </a:xfrm>
          <a:prstGeom prst="rect">
            <a:avLst/>
          </a:prstGeom>
          <a:solidFill>
            <a:srgbClr val="E8F1FE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77240" y="1216152"/>
            <a:ext cx="3931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>
                <a:solidFill>
                  <a:srgbClr val="1F6FEB"/>
                </a:solidFill>
                <a:latin typeface="微软雅黑"/>
              </a:rPr>
              <a:t>第 1 层  传输加密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18488"/>
            <a:ext cx="5760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ECDH P-256 握手 · HKDF-SHA256 派生 · AES-256-GCM 逐条认证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20840" y="1444752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>
                <a:solidFill>
                  <a:srgbClr val="6C7584"/>
                </a:solidFill>
                <a:latin typeface="微软雅黑"/>
              </a:rPr>
              <a:t>抓包看不到密码与聊天内容；改一个字节就解不开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2322576"/>
            <a:ext cx="11064240" cy="1042415"/>
          </a:xfrm>
          <a:prstGeom prst="rect">
            <a:avLst/>
          </a:prstGeom>
          <a:solidFill>
            <a:srgbClr val="E6F6EE"/>
          </a:solidFill>
          <a:ln w="15875">
            <a:solidFill>
              <a:srgbClr val="168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77240" y="2368296"/>
            <a:ext cx="3931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>
                <a:solidFill>
                  <a:srgbClr val="168A57"/>
                </a:solidFill>
                <a:latin typeface="微软雅黑"/>
              </a:rPr>
              <a:t>第 2 层  身份与信任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70632"/>
            <a:ext cx="5760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TOFU 指纹：第一次记住，之后每次比对，变了就中止连接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20840" y="2596896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>
                <a:solidFill>
                  <a:srgbClr val="6C7584"/>
                </a:solidFill>
                <a:latin typeface="微软雅黑"/>
              </a:rPr>
              <a:t>服务器密钥被换掉时，用户会立刻看到明确警告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3474720"/>
            <a:ext cx="11064240" cy="1042415"/>
          </a:xfrm>
          <a:prstGeom prst="rect">
            <a:avLst/>
          </a:prstGeom>
          <a:solidFill>
            <a:srgbClr val="FDF4E2"/>
          </a:solidFill>
          <a:ln w="15875">
            <a:solidFill>
              <a:srgbClr val="B06C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77240" y="3520439"/>
            <a:ext cx="3931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>
                <a:solidFill>
                  <a:srgbClr val="B06C0C"/>
                </a:solidFill>
                <a:latin typeface="微软雅黑"/>
              </a:rPr>
              <a:t>第 3 层  资源与准入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922776"/>
            <a:ext cx="5760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连接数上限 · 单 IP 上限 · 握手超时 · 上传下载限速 · 发言间隔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20840" y="3749039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>
                <a:solidFill>
                  <a:srgbClr val="6C7584"/>
                </a:solidFill>
                <a:latin typeface="微软雅黑"/>
              </a:rPr>
              <a:t>把「占着连接不说话」和「狂建连接」在入口掐掉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4626864"/>
            <a:ext cx="11064240" cy="1042415"/>
          </a:xfrm>
          <a:prstGeom prst="rect">
            <a:avLst/>
          </a:prstGeom>
          <a:solidFill>
            <a:srgbClr val="FDECEA"/>
          </a:solidFill>
          <a:ln w="15875">
            <a:solidFill>
              <a:srgbClr val="B03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77240" y="4672583"/>
            <a:ext cx="3931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>
                <a:solidFill>
                  <a:srgbClr val="B03A2B"/>
                </a:solidFill>
                <a:latin typeface="微软雅黑"/>
              </a:rPr>
              <a:t>第 4 层  凭据保护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074920"/>
            <a:ext cx="5760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PBKDF2-HMAC-SHA256 加盐 · 登录失败窗口封禁 · 密码不落盘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20840" y="4901183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>
                <a:solidFill>
                  <a:srgbClr val="6C7584"/>
                </a:solidFill>
                <a:latin typeface="微软雅黑"/>
              </a:rPr>
              <a:t>拖走账号文件也拿不到密码；在线暴破被时间窗限住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053328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200">
                <a:solidFill>
                  <a:srgbClr val="6C7584"/>
                </a:solidFill>
                <a:latin typeface="微软雅黑"/>
              </a:rPr>
              <a:t>四层互相独立：加密被绕过仍有指纹，指纹被忽略仍有连接上限，上限被绕开仍有凭据哈希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  <p:bldP spid="5" grpId="0"/>
      <p:bldP spid="6" grpId="0"/>
      <p:bldP spid="8" grpId="0"/>
      <p:bldP spid="9" grpId="0"/>
      <p:bldP spid="10" grpId="0"/>
      <p:bldP spid="12" grpId="0"/>
      <p:bldP spid="13" grpId="0"/>
      <p:bldP spid="14" grpId="0"/>
      <p:bldP spid="16" grpId="0"/>
      <p:bldP spid="17" grpId="0"/>
      <p:bldP spid="18" grpId="0"/>
      <p:bldP spid="19" grpId="0"/>
    </p:bld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压力与攻击实测（一）：防护是否真的生效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在 Kali 虚拟机上对着真服务端打出来的，不是估算值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66928" y="1188720"/>
          <a:ext cx="11064240" cy="39776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2286000"/>
                <a:gridCol w="6126480"/>
              </a:tblGrid>
              <a:tr h="568234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攻击方式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配置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实测结果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</a:tr>
              <a:tr h="568234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连接洪泛 200 条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maxconnsperip = 60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正好 60 条存活、140 条被拒——上限精确生效，服务端逐条记录拒绝原因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68234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慢速连接耗尽 40 条 × 占住 25 秒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handshaketimeout = 10 秒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40/40 全部被按时断开；服务端日志出现 72 次 handshake timeout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568234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暴力破解 12 次错误密码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loginfails = 5（5 分钟窗口）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12/12 全部被拒，攻击方一次都没登上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68234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畸形数据 11 类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—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超长行 / 二进制乱字节 / 无换行灌数据 / 伪造 HELLO_OK / 未握手注入 ENC / 半包即断——全部未命中，服务端未崩溃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568234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攻击后正常业务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—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新客户端仍能正常注册、登录、收发消息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682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内存占用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—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攻击全程稳定在 9.3–10.3 MB，无增长失控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66928" y="6053328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200">
                <a:solidFill>
                  <a:srgbClr val="6C7584"/>
                </a:solidFill>
                <a:latin typeface="微软雅黑"/>
              </a:rPr>
              <a:t>复现方式：tools/loadtest.cpp（POSIX socket 手写，五个独立场景：flood / slowloris / badlogin / garbage / echo）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</p:bld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攻击对比曲线（一）：连接上限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目标连接数从 20 加到 300，存活数在 60 处硬性封顶</a:t>
            </a:r>
          </a:p>
        </p:txBody>
      </p:sp>
      <p:pic>
        <p:nvPicPr>
          <p:cNvPr id="3" name="Picture 2" descr="chart-conn-lim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4430" y="1078992"/>
            <a:ext cx="9944100" cy="397763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5193792"/>
            <a:ext cx="5486400" cy="1298448"/>
          </a:xfrm>
          <a:prstGeom prst="rect">
            <a:avLst/>
          </a:prstGeom>
          <a:solidFill>
            <a:srgbClr val="E6F6EE"/>
          </a:solidFill>
          <a:ln w="15875">
            <a:solidFill>
              <a:srgbClr val="168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94944" y="5285231"/>
            <a:ext cx="51937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>
                <a:solidFill>
                  <a:srgbClr val="168A57"/>
                </a:solidFill>
                <a:latin typeface="微软雅黑"/>
              </a:rPr>
              <a:t>读这张图要看什么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" y="5650992"/>
            <a:ext cx="519379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左侧蓝线在 60 处变成水平——上限是硬封顶，不是「大概拦一拦」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右侧红线严格 1:1：超出多少就拒多少，一条不漏也不多拒</a:t>
            </a:r>
          </a:p>
        </p:txBody>
      </p:sp>
      <p:sp>
        <p:nvSpPr>
          <p:cNvPr id="7" name="Rectangle 6"/>
          <p:cNvSpPr/>
          <p:nvPr/>
        </p:nvSpPr>
        <p:spPr>
          <a:xfrm>
            <a:off x="6263640" y="5193792"/>
            <a:ext cx="5486400" cy="1298448"/>
          </a:xfrm>
          <a:prstGeom prst="rect">
            <a:avLst/>
          </a:prstGeom>
          <a:solidFill>
            <a:srgbClr val="E8F1FE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409944" y="5285231"/>
            <a:ext cx="51937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>
                <a:solidFill>
                  <a:srgbClr val="1F6FEB"/>
                </a:solidFill>
                <a:latin typeface="微软雅黑"/>
              </a:rPr>
              <a:t>数据来源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9944" y="5650992"/>
            <a:ext cx="519379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8 个测试点各有实测记录（20/40/60/80/100/150/200/300）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复现：tools/loadtest.cpp flood &lt;条数&gt;，配置见 linux/README.md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5" grpId="0"/>
      <p:bldP spid="6" grpId="0"/>
      <p:bldP spid="8" grpId="0"/>
      <p:bldP spid="9" grpId="0"/>
    </p:bld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攻击对比曲线（二）：慢速耗尽的清理过程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30 条连上不登录的连接，在三种超时配置下全部被按时清掉</a:t>
            </a:r>
          </a:p>
        </p:txBody>
      </p:sp>
      <p:pic>
        <p:nvPicPr>
          <p:cNvPr id="3" name="Picture 2" descr="chart-time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4430" y="1078992"/>
            <a:ext cx="9944100" cy="397763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5193792"/>
            <a:ext cx="5486400" cy="1298448"/>
          </a:xfrm>
          <a:prstGeom prst="rect">
            <a:avLst/>
          </a:prstGeom>
          <a:solidFill>
            <a:srgbClr val="FDF4E2"/>
          </a:solidFill>
          <a:ln w="15875">
            <a:solidFill>
              <a:srgbClr val="B06C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94944" y="5285231"/>
            <a:ext cx="51937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>
                <a:solidFill>
                  <a:srgbClr val="B06C0C"/>
                </a:solidFill>
                <a:latin typeface="微软雅黑"/>
              </a:rPr>
              <a:t>读这张图要看什么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" y="5650992"/>
            <a:ext cx="519379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三条阶跃线精确落在设定值上（5 / 10 / 20 秒），没有延迟漂移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无论配置多长最终都清零——攻击者拿不到「一直占着」的结果</a:t>
            </a:r>
          </a:p>
        </p:txBody>
      </p:sp>
      <p:sp>
        <p:nvSpPr>
          <p:cNvPr id="7" name="Rectangle 6"/>
          <p:cNvSpPr/>
          <p:nvPr/>
        </p:nvSpPr>
        <p:spPr>
          <a:xfrm>
            <a:off x="6263640" y="5193792"/>
            <a:ext cx="5486400" cy="1298448"/>
          </a:xfrm>
          <a:prstGeom prst="rect">
            <a:avLst/>
          </a:prstGeom>
          <a:solidFill>
            <a:srgbClr val="FDECEA"/>
          </a:solidFill>
          <a:ln w="15875">
            <a:solidFill>
              <a:srgbClr val="B03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409944" y="5285231"/>
            <a:ext cx="51937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>
                <a:solidFill>
                  <a:srgbClr val="B03A2B"/>
                </a:solidFill>
                <a:latin typeface="微软雅黑"/>
              </a:rPr>
              <a:t>服务端的处理方式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9944" y="5650992"/>
            <a:ext cx="519379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关闭前先回一条 ERROR「太久没有登录，连接已关闭」，用户看得懂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每次清理都进日志：实测一轮出现 72 次 handshake timeout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5" grpId="0"/>
      <p:bldP spid="6" grpId="0"/>
      <p:bldP spid="8" grpId="0"/>
      <p:bldP spid="9" grpId="0"/>
    </p:bld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补上注册路径：从发现缺口到实测修复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有人问「疯狂注册换 IP 是不是防不住」——实测确实防不住，于是补掉了</a:t>
            </a:r>
          </a:p>
        </p:txBody>
      </p:sp>
      <p:pic>
        <p:nvPicPr>
          <p:cNvPr id="3" name="Picture 2" descr="chart-regist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480" y="1051560"/>
            <a:ext cx="9144000" cy="393192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5120640"/>
            <a:ext cx="3657600" cy="1371600"/>
          </a:xfrm>
          <a:prstGeom prst="rect">
            <a:avLst/>
          </a:prstGeom>
          <a:solidFill>
            <a:srgbClr val="FDECEA"/>
          </a:solidFill>
          <a:ln w="15875">
            <a:solidFill>
              <a:srgbClr val="B03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94944" y="5212079"/>
            <a:ext cx="33649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>
                <a:solidFill>
                  <a:srgbClr val="B03A2B"/>
                </a:solidFill>
                <a:latin typeface="微软雅黑"/>
              </a:rPr>
              <a:t>缺口是什么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" y="5577840"/>
            <a:ext cx="336499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原有防护全部基于 IP：换 IP 即失效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注册路径当时零限制、零拦截记录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洪水期间正常用户消息 105 ms → 超时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3400" y="5120640"/>
            <a:ext cx="3657600" cy="1371600"/>
          </a:xfrm>
          <a:prstGeom prst="rect">
            <a:avLst/>
          </a:prstGeom>
          <a:solidFill>
            <a:srgbClr val="E8F1FE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489704" y="5212079"/>
            <a:ext cx="33649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>
                <a:solidFill>
                  <a:srgbClr val="1F6FEB"/>
                </a:solidFill>
                <a:latin typeface="微软雅黑"/>
              </a:rPr>
              <a:t>怎么修的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9704" y="5577840"/>
            <a:ext cx="336499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新增两条规则：registerinterval / maxaccounts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IP 冷却抬成本，总量上限兜底（换 IP 也绕不过）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顺带修掉全量重写账号文件与重复算名单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38160" y="5120640"/>
            <a:ext cx="3520440" cy="1371600"/>
          </a:xfrm>
          <a:prstGeom prst="rect">
            <a:avLst/>
          </a:prstGeom>
          <a:solidFill>
            <a:srgbClr val="E6F6EE"/>
          </a:solidFill>
          <a:ln w="15875">
            <a:solidFill>
              <a:srgbClr val="168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284464" y="5212079"/>
            <a:ext cx="32278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>
                <a:solidFill>
                  <a:srgbClr val="168A57"/>
                </a:solidFill>
                <a:latin typeface="微软雅黑"/>
              </a:rPr>
              <a:t>不误伤验证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84464" y="5577840"/>
            <a:ext cx="32278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首次 IP 新用户 2 ms 注册成功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已注册用户登录发言不受影响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44 项单测把放行/拒绝两个方向都钉死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5" grpId="0"/>
      <p:bldP spid="6" grpId="0"/>
      <p:bldP spid="8" grpId="0"/>
      <p:bldP spid="9" grpId="0"/>
      <p:bldP spid="11" grpId="0"/>
      <p:bldP spid="12" grpId="0"/>
    </p:bld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性能实测与安全边界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左边是能做到的，右边是明确做不到的——两栏都要看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70432"/>
            <a:ext cx="5486400" cy="2423160"/>
          </a:xfrm>
          <a:prstGeom prst="rect">
            <a:avLst/>
          </a:prstGeom>
          <a:solidFill>
            <a:srgbClr val="E6F6EE"/>
          </a:solidFill>
          <a:ln w="15875">
            <a:solidFill>
              <a:srgbClr val="168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13232" y="1261872"/>
            <a:ext cx="51937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>
                <a:solidFill>
                  <a:srgbClr val="168A57"/>
                </a:solidFill>
                <a:latin typeface="微软雅黑"/>
              </a:rPr>
              <a:t>性能与稳定性（实测）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627632"/>
            <a:ext cx="5193792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16 客户端持续压测：处理 474,296 条消息，墙钟 2.4 秒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服务端 CPU 17 秒（多核并行，广播式分发）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空载内存 9.2 MB；攻击 + 压测全程 9.8–10.8 MB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全程零崩溃、零重启；单文件静态二进制，无外部依赖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200 条并发建连 6 ms（本机回环，非广域网指标）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吞吐与服务端日志逐条计数核对过，不是写缓冲假象</a:t>
            </a:r>
          </a:p>
        </p:txBody>
      </p:sp>
      <p:sp>
        <p:nvSpPr>
          <p:cNvPr id="6" name="Rectangle 5"/>
          <p:cNvSpPr/>
          <p:nvPr/>
        </p:nvSpPr>
        <p:spPr>
          <a:xfrm>
            <a:off x="6144768" y="1170432"/>
            <a:ext cx="5486400" cy="2423160"/>
          </a:xfrm>
          <a:prstGeom prst="rect">
            <a:avLst/>
          </a:prstGeom>
          <a:solidFill>
            <a:srgbClr val="FDECEA"/>
          </a:solidFill>
          <a:ln w="15875">
            <a:solidFill>
              <a:srgbClr val="B03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291072" y="1261872"/>
            <a:ext cx="51937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>
                <a:solidFill>
                  <a:srgbClr val="B03A2B"/>
                </a:solidFill>
                <a:latin typeface="微软雅黑"/>
              </a:rPr>
              <a:t>安全边界（明确做不到）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91072" y="1627632"/>
            <a:ext cx="5193792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主动中间人：裸 ECDH 没有身份认证，能劫持线路的人理论上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  可以分别和两端握手——要挡它需要证书或预共享密钥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网络层大流量 DDoS：本项目只做应用层防护，流量清洗要靠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  上游运营商 / 云清洗 / CDN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端到端加密：服务端能解密消息（它要转发、要存历史）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密码找回、多设备同步、消息签名——都没有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767328"/>
            <a:ext cx="11064240" cy="2011680"/>
          </a:xfrm>
          <a:prstGeom prst="rect">
            <a:avLst/>
          </a:prstGeom>
          <a:solidFill>
            <a:srgbClr val="FDF4E2"/>
          </a:solidFill>
          <a:ln w="15875">
            <a:solidFill>
              <a:srgbClr val="B06C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13232" y="3858768"/>
            <a:ext cx="107716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>
                <a:solidFill>
                  <a:srgbClr val="B06C0C"/>
                </a:solidFill>
                <a:latin typeface="微软雅黑"/>
              </a:rPr>
              <a:t>为什么两栏要放在同一页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4224528"/>
            <a:ext cx="1077163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· 单看左边会以为「这服务器打不死」，单看右边会以为「防护很弱」——都不对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· 实测数字证明的是「规则按设计生效」，不是「扛得住任何流量」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· 安全材料里最危险的不是「防护少」，而是「你以为防护了很多」；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  使用者按错误假设去用，风险比明说大得多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· 这不是事后补的：项目从第一版加密起就在 crypto.h 里写着「不保护主动中间人」，README 照抄同一句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  <p:bldP spid="5" grpId="0"/>
      <p:bldP spid="7" grpId="0"/>
      <p:bldP spid="8" grpId="0"/>
      <p:bldP spid="10" grpId="0"/>
      <p:bldP spid="11" grpId="0"/>
    </p:bld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可调防护规则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17 条规则全部是运行时参数：改一行、重启即生效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66928" y="1188720"/>
          <a:ext cx="11064238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3279"/>
                <a:gridCol w="5394960"/>
                <a:gridCol w="2285999"/>
              </a:tblGrid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</a:rPr>
                        <a:t>规则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</a:rPr>
                        <a:t>作用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</a:rPr>
                        <a:t>默认值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maxconns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同时连接总数上限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0（不限）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maxconnsperip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同一 IP 的同时连接上限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0（不限）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loginfails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同 IP 每 5 分钟允许的登录失败次数，超出即封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0（不限）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handshaketimeout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连上后多少秒内必须登录，否则断开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30 秒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uploadrate / downloadrate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单客户端上传 / 下载限速（KB/s）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0（不限）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maxtextlen / maxtextlines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单条消息最大字符数 / 行数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0（不限）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chatinterval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发言最小间隔，防刷屏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0（不限）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registerinterval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同一 IP 两次注册的最小间隔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0（不限）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maxaccounts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账号总数上限（换 IP 也绕不过）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0（不限）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documentsize / maxservertemp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单文件上限 / 暂存总量上限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64 MB / 1024 MB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66928" y="6053328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200">
                <a:solidFill>
                  <a:srgbClr val="6C7584"/>
                </a:solidFill>
                <a:latin typeface="微软雅黑"/>
              </a:rPr>
              <a:t>默认只开握手超时是刻意的：先保证「拿下来就能用」，要上公网再按需开启——加固后的实测见前两页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</p:bld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四端统一：会话逻辑只有一处实现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Linux 终端界面也接上了共用的 chat_core —— 界面只负责「怎么显示」</a:t>
            </a:r>
          </a:p>
        </p:txBody>
      </p:sp>
      <p:pic>
        <p:nvPicPr>
          <p:cNvPr id="3" name="Picture 2" descr="chart-lay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0928" y="960120"/>
            <a:ext cx="7651102" cy="374903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892040"/>
            <a:ext cx="3657600" cy="1645920"/>
          </a:xfrm>
          <a:prstGeom prst="rect">
            <a:avLst/>
          </a:prstGeom>
          <a:solidFill>
            <a:srgbClr val="E8F1FE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94944" y="4983479"/>
            <a:ext cx="33649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>
                <a:solidFill>
                  <a:srgbClr val="1F6FEB"/>
                </a:solidFill>
                <a:latin typeface="微软雅黑"/>
              </a:rPr>
              <a:t>Linux 界面这次改了什么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" y="5349240"/>
            <a:ext cx="336499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原先自己解析协议、自己分派 9 个指令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现在实现 ChatCoreDelegate，不再持有连接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渲染抽成纯函数 cli_render（可单测）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界面只剩：读键 / 画输入行 / 打输出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3400" y="4892040"/>
            <a:ext cx="3657600" cy="1645920"/>
          </a:xfrm>
          <a:prstGeom prst="rect">
            <a:avLst/>
          </a:prstGeom>
          <a:solidFill>
            <a:srgbClr val="E6F6EE"/>
          </a:solidFill>
          <a:ln w="15875">
            <a:solidFill>
              <a:srgbClr val="168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489704" y="4983479"/>
            <a:ext cx="33649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>
                <a:solidFill>
                  <a:srgbClr val="168A57"/>
                </a:solidFill>
                <a:latin typeface="微软雅黑"/>
              </a:rPr>
              <a:t>界面终于能自动化测了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9704" y="5349240"/>
            <a:ext cx="336499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用伪终端（pty）驱动真客户端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35 项：收发 / 补全 / 色码 / 退格删中文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还有附件（下载内容逐字节核对）与语音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以前这块完全没有自动化覆盖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38160" y="4892040"/>
            <a:ext cx="3520440" cy="1645920"/>
          </a:xfrm>
          <a:prstGeom prst="rect">
            <a:avLst/>
          </a:prstGeom>
          <a:solidFill>
            <a:srgbClr val="FDF4E2"/>
          </a:solidFill>
          <a:ln w="15875">
            <a:solidFill>
              <a:srgbClr val="B06C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284464" y="4983479"/>
            <a:ext cx="32278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>
                <a:solidFill>
                  <a:srgbClr val="B06C0C"/>
                </a:solidFill>
                <a:latin typeface="微软雅黑"/>
              </a:rPr>
              <a:t>一个值得记的教训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84464" y="5349240"/>
            <a:ext cx="322783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这批测试第一版报了 6 项失败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逐条查下来，6 项全是测试自己写错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client_core 新加 35 项渲染单测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测试失败先怀疑测试，别急着改代码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5" grpId="0"/>
      <p:bldP spid="6" grpId="0"/>
      <p:bldP spid="8" grpId="0"/>
      <p:bldP spid="9" grpId="0"/>
      <p:bldP spid="11" grpId="0"/>
      <p:bldP spid="12" grpId="0"/>
    </p:bld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四端互通：实测通过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Windows · Linux · macOS · Android 同一个服务器，互相都能看到消息</a:t>
            </a:r>
          </a:p>
        </p:txBody>
      </p:sp>
      <p:pic>
        <p:nvPicPr>
          <p:cNvPr id="3" name="Picture 2" descr="chart-inte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9280" y="960120"/>
            <a:ext cx="8534400" cy="38404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983480"/>
            <a:ext cx="3657600" cy="1554480"/>
          </a:xfrm>
          <a:prstGeom prst="rect">
            <a:avLst/>
          </a:prstGeom>
          <a:solidFill>
            <a:srgbClr val="E6F6EE"/>
          </a:solidFill>
          <a:ln w="15875">
            <a:solidFill>
              <a:srgbClr val="168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94944" y="5074920"/>
            <a:ext cx="33649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>
                <a:solidFill>
                  <a:srgbClr val="168A57"/>
                </a:solidFill>
                <a:latin typeface="微软雅黑"/>
              </a:rPr>
              <a:t>这次补上了什么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" y="5440680"/>
            <a:ext cx="336499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macOS 首次真机编译：零报错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原先只做过静态验证（交叉编译）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现在补上了运行与互通验证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那张「不夸大」图已改成「已实测」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3400" y="4983480"/>
            <a:ext cx="3657600" cy="1554480"/>
          </a:xfrm>
          <a:prstGeom prst="rect">
            <a:avLst/>
          </a:prstGeom>
          <a:solidFill>
            <a:srgbClr val="E8F1FE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489704" y="5074920"/>
            <a:ext cx="33649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>
                <a:solidFill>
                  <a:srgbClr val="1F6FEB"/>
                </a:solidFill>
                <a:latin typeface="微软雅黑"/>
              </a:rPr>
              <a:t>已验证的功能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9704" y="5440680"/>
            <a:ext cx="336499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登录 / 收发消息（与另外三个平台双向互发）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四端同时在线，互相都看得到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附件（文件）在端之间传过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彩色文字在 mac 上显示正常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38160" y="4983480"/>
            <a:ext cx="3520440" cy="1554480"/>
          </a:xfrm>
          <a:prstGeom prst="rect">
            <a:avLst/>
          </a:prstGeom>
          <a:solidFill>
            <a:srgbClr val="FDF4E2"/>
          </a:solidFill>
          <a:ln w="15875">
            <a:solidFill>
              <a:srgbClr val="B06C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284464" y="5074920"/>
            <a:ext cx="32278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>
                <a:solidFill>
                  <a:srgbClr val="B06C0C"/>
                </a:solidFill>
                <a:latin typeface="微软雅黑"/>
              </a:rPr>
              <a:t>为什么不全部涂绿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84464" y="5440680"/>
            <a:ext cx="322783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语音消息没测，那一行标红写「未测」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灰色格是这一轮没测的组合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标出来比统一涂绿更有用：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  下一个要补的地方一目了然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5" grpId="0"/>
      <p:bldP spid="6" grpId="0"/>
      <p:bldP spid="8" grpId="0"/>
      <p:bldP spid="9" grpId="0"/>
      <p:bldP spid="11" grpId="0"/>
      <p:bldP spid="12" grpId="0"/>
    </p:bld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macOS 端：原生 Cocoa 界面 + 如实标注的验证边界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开发机上没有 Mac，所以「能编的都编了、能查的都查了」，但从未真机运行</a:t>
            </a:r>
          </a:p>
        </p:txBody>
      </p:sp>
      <p:pic>
        <p:nvPicPr>
          <p:cNvPr id="3" name="Picture 2" descr="chart-macos-verif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7417" y="1005840"/>
            <a:ext cx="7858125" cy="40233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5166360"/>
            <a:ext cx="3657600" cy="1371600"/>
          </a:xfrm>
          <a:prstGeom prst="rect">
            <a:avLst/>
          </a:prstGeom>
          <a:solidFill>
            <a:srgbClr val="E8F1FE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94944" y="5257800"/>
            <a:ext cx="33649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>
                <a:solidFill>
                  <a:srgbClr val="1F6FEB"/>
                </a:solidFill>
                <a:latin typeface="微软雅黑"/>
              </a:rPr>
              <a:t>为 macOS 改了什么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" y="5623560"/>
            <a:ext cx="336499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没有 MSG_NOSIGNAL → 用 SO_NOSIGPIPE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TCP_KEEPIDLE 改叫 TCP_KEEPALIVE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htons 是宏：加了 :: 反而编不过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3400" y="5166360"/>
            <a:ext cx="3657600" cy="1371600"/>
          </a:xfrm>
          <a:prstGeom prst="rect">
            <a:avLst/>
          </a:prstGeom>
          <a:solidFill>
            <a:srgbClr val="E6F6EE"/>
          </a:solidFill>
          <a:ln w="15875">
            <a:solidFill>
              <a:srgbClr val="168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489704" y="5257800"/>
            <a:ext cx="33649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>
                <a:solidFill>
                  <a:srgbClr val="168A57"/>
                </a:solidFill>
                <a:latin typeface="微软雅黑"/>
              </a:rPr>
              <a:t>客户端分了层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9704" y="5623560"/>
            <a:ext cx="336499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client_core/ 可移植核心：网络/信任/附件/颜色/语音/会话逻辑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linux/client/ 与 macos/main.mm 只剩界面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界面能编不了也不怕：逻辑都在能验证的核心层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38160" y="5166360"/>
            <a:ext cx="3520440" cy="1371600"/>
          </a:xfrm>
          <a:prstGeom prst="rect">
            <a:avLst/>
          </a:prstGeom>
          <a:solidFill>
            <a:srgbClr val="FDF4E2"/>
          </a:solidFill>
          <a:ln w="15875">
            <a:solidFill>
              <a:srgbClr val="B06C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284464" y="5257800"/>
            <a:ext cx="32278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>
                <a:solidFill>
                  <a:srgbClr val="B06C0C"/>
                </a:solidFill>
                <a:latin typeface="微软雅黑"/>
              </a:rPr>
              <a:t>怎么在没有 Mac 时查错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84464" y="5623560"/>
            <a:ext cx="32278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zig 交叉编译成真 Mach-O 二进制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18 个文件 × 两个架构全通过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文本层查 selector / 括号 / 声明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5" grpId="0"/>
      <p:bldP spid="6" grpId="0"/>
      <p:bldP spid="8" grpId="0"/>
      <p:bldP spid="9" grpId="0"/>
      <p:bldP spid="11" grpId="0"/>
      <p:bldP spid="12" grpId="0"/>
    </p:bld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几个真实的 bug（和它们为什么难查）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共同点：不报错、不崩，只是「结果悄悄不对」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66928" y="1188720"/>
          <a:ext cx="11064239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39"/>
                <a:gridCol w="6858000"/>
              </a:tblGrid>
              <a:tr h="7162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</a:rPr>
                        <a:t>现象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</a:rPr>
                        <a:t>真正的原因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桌面端所有自绘按钮突然不显示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SetWindowLongPtrW 的返回值被丢掉了，导致 CallWindowProcW 收到空指针——按钮画不出来，窗口还被永久置为无效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附件卡片完全不显示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FILE_OFFER 第一格是上传者昵称，被当成了附件 ID；又漏剥了消息里的 hh:mm 时间戳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跨端握手永远失败，但没有任何报错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CNG 的私钥 blob 里标量是小端，OpenSSL 的 BIGNUM 是大端。不翻转的话「同一个标量」其实是两个数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取色盘点某个位置出来的是别的颜色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SV 方块的四角伸进了色环，命中测试先命中了色环——单元测试按采样点比对才抓出来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上传完不知道自己文件的附件 ID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服务端只广播给别人，把上传者排除了；而 ID 是服务端分配的，客户端无从猜测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66928" y="6053328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200">
                <a:solidFill>
                  <a:srgbClr val="6C7584"/>
                </a:solidFill>
                <a:latin typeface="微软雅黑"/>
              </a:rPr>
              <a:t>这五个里有四个是靠测试或服务端日志定位的，只有一个（按钮不显示）是用户先发现、再回头查的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</p:bld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AI 在项目里做了什么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公开说明：这个项目从第一行代码起就是 AI 结对开发的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88720"/>
            <a:ext cx="5440680" cy="2377440"/>
          </a:xfrm>
          <a:prstGeom prst="rect">
            <a:avLst/>
          </a:prstGeom>
          <a:solidFill>
            <a:srgbClr val="E8F1FE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13232" y="1280160"/>
            <a:ext cx="51480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>
                <a:solidFill>
                  <a:srgbClr val="1F6FEB"/>
                </a:solidFill>
                <a:latin typeface="微软雅黑"/>
              </a:rPr>
              <a:t>AI 承担的部分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645920"/>
            <a:ext cx="514807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全部代码的第一版：C++ / Kotlin / Python 都一样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设计并撰写中文注释（这个项目的注释密度很高）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跑构建、跑测试、读日志、定位失败原因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操作 Kali 虚拟机做跨平台验证（装工具链、传文件、跑 ctest）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写提交信息、README、以及这份 PPT</a:t>
            </a:r>
          </a:p>
        </p:txBody>
      </p:sp>
      <p:sp>
        <p:nvSpPr>
          <p:cNvPr id="6" name="Rectangle 5"/>
          <p:cNvSpPr/>
          <p:nvPr/>
        </p:nvSpPr>
        <p:spPr>
          <a:xfrm>
            <a:off x="6199632" y="1188720"/>
            <a:ext cx="5440680" cy="2377440"/>
          </a:xfrm>
          <a:prstGeom prst="rect">
            <a:avLst/>
          </a:prstGeom>
          <a:solidFill>
            <a:srgbClr val="E6F6EE"/>
          </a:solidFill>
          <a:ln w="15875">
            <a:solidFill>
              <a:srgbClr val="168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345936" y="1280160"/>
            <a:ext cx="51480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>
                <a:solidFill>
                  <a:srgbClr val="168A57"/>
                </a:solidFill>
                <a:latin typeface="微软雅黑"/>
              </a:rPr>
              <a:t>人承担的部分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45936" y="1645920"/>
            <a:ext cx="514807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决定先做什么、后做什么（优先级全由人定）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在真机上试、给出界面反馈（「太挤」「太丑」「这按钮呢」）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定下项目约定：中文注释、不用 #define、避免 Python、先问再做安全相关写入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仓库治理与发布决策（什么时候推 GitHub、发不发二进制）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611880"/>
            <a:ext cx="5486400" cy="2194560"/>
          </a:xfrm>
          <a:prstGeom prst="rect">
            <a:avLst/>
          </a:prstGeom>
          <a:solidFill>
            <a:srgbClr val="E6F6EE"/>
          </a:solidFill>
          <a:ln w="15875">
            <a:solidFill>
              <a:srgbClr val="168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13232" y="3703320"/>
            <a:ext cx="51937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>
                <a:solidFill>
                  <a:srgbClr val="168A57"/>
                </a:solidFill>
                <a:latin typeface="微软雅黑"/>
              </a:rPr>
              <a:t>AI 最有效的三个用法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4069080"/>
            <a:ext cx="5193792" cy="1645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① 写可被测试的纯逻辑：解析、判定、格式化全部抽成纯函数，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   一有测试，后面每次修改都能立刻验证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② 交叉核对而不是相信「应该对」：写探针程序把中间量打出来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   逐字节 diff，跨端一致的三个坑就是这么找出来的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③ 顺着日志往下挖：加临时日志、看服务端记录、用 strace 看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   实际发出去的字节，好几个 bug 几分钟内定位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99632" y="3611880"/>
            <a:ext cx="5440680" cy="2194560"/>
          </a:xfrm>
          <a:prstGeom prst="rect">
            <a:avLst/>
          </a:prstGeom>
          <a:solidFill>
            <a:srgbClr val="FDF4E2"/>
          </a:solidFill>
          <a:ln w="15875">
            <a:solidFill>
              <a:srgbClr val="B06C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345936" y="3703320"/>
            <a:ext cx="51480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>
                <a:solidFill>
                  <a:srgbClr val="B06C0C"/>
                </a:solidFill>
                <a:latin typeface="微软雅黑"/>
              </a:rPr>
              <a:t>一个坦诚的比例估计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45936" y="4069080"/>
            <a:ext cx="5148072" cy="1645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代码、注释、测试、文档、构建与验证脚本：绝大部分由 AI 产出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方向、取舍、验收标准、以及「什么算做完了」：全部由人决定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AI 更像执行力很强的实现者 + 不会累的验证者，而不是决策者。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  决策错了的时候（比如界面改版方向），返工成本也是真实的。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  <p:bldP spid="5" grpId="0"/>
      <p:bldP spid="7" grpId="0"/>
      <p:bldP spid="8" grpId="0"/>
      <p:bldP spid="10" grpId="0"/>
      <p:bldP spid="11" grpId="0"/>
      <p:bldP spid="13" grpId="0"/>
      <p:bldP spid="14" grpId="0"/>
    </p:bldLst>
  </p:timing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AI 真实搞砸的地方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这一页比上一页更有用——都是这个项目里实际发生的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66928" y="1143000"/>
          <a:ext cx="1106424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5760720"/>
                <a:gridCol w="3017520"/>
              </a:tblGrid>
              <a:tr h="7467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翻车方式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具体发生了什么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后来的做法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过度宽泛的批量替换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用词边界正则替换 SOCKET，把 SOL_SOCKET 改成了 SOL_sock::Handle，整个文件编不过，只能回退重来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替换改成按整行精确匹配，并写成脚本执行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对运行环境想当然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服务端进程还占着 exe，链接直接失败报 Permission denied，一度以为是代码问题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先看错误正文，再动手改代码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忽视自己写过的规则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测试脚本给服务端传位置参数 5599，实际参数是 --port，端口没生效，白折腾一轮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跑之前先确认命令行语法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工具链知识缺失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std::string 会间接引入 windows.h，把 winsock2.h 挡掉，报错却是「sock 未声明」，很误导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记住 winsock2 必须在任何标准库头之前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自造的测试也写错过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把「时长未知」的 -1 当成非法值去断言，测试红了但产品是对的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先想清楚语义，再写断言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66928" y="6053328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200">
                <a:solidFill>
                  <a:srgbClr val="6C7584"/>
                </a:solidFill>
                <a:latin typeface="微软雅黑"/>
              </a:rPr>
              <a:t>这一页的价值在于：知道 AI 会怎么错，才知道该在哪些地方加检查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</p:bld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从这次开发里得到的结论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如果你也想用 AI 做这种规模的项目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88720"/>
            <a:ext cx="110642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>
                <a:solidFill>
                  <a:srgbClr val="16284A"/>
                </a:solidFill>
                <a:latin typeface="微软雅黑"/>
              </a:rPr>
              <a:t>一、测试不是「有空再写」，是让 AI 能干活的前提</a:t>
            </a:r>
          </a:p>
          <a:p>
            <a:pPr algn="l" lvl="1">
              <a:lnSpc>
                <a:spcPct val="115000"/>
              </a:lnSpc>
              <a:spcAft>
                <a:spcPts val="2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没有测试的代码，改一处要重跑整个程序靠肉眼确认；有测试的模块，改完一条命令就知道对不对</a:t>
            </a:r>
          </a:p>
          <a:p>
            <a:pPr algn="l" lvl="1">
              <a:lnSpc>
                <a:spcPct val="115000"/>
              </a:lnSpc>
              <a:spcAft>
                <a:spcPts val="2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这个项目里几乎每个真 bug 最后都变成了一条新的断言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>
                <a:solidFill>
                  <a:srgbClr val="202938"/>
                </a:solidFill>
                <a:latin typeface="微软雅黑"/>
              </a:rPr>
              <a:t/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>
                <a:solidFill>
                  <a:srgbClr val="16284A"/>
                </a:solidFill>
                <a:latin typeface="微软雅黑"/>
              </a:rPr>
              <a:t>二、跨平台 / 跨语言的项目，先立「一致性契约」再写业务</a:t>
            </a:r>
          </a:p>
          <a:p>
            <a:pPr algn="l" lvl="1">
              <a:lnSpc>
                <a:spcPct val="115000"/>
              </a:lnSpc>
              <a:spcAft>
                <a:spcPts val="2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跨端一致性不是靠小心，是靠同一套测试向量 + 明确的书面约定</a:t>
            </a:r>
          </a:p>
          <a:p>
            <a:pPr algn="l" lvl="1">
              <a:lnSpc>
                <a:spcPct val="115000"/>
              </a:lnSpc>
              <a:spcAft>
                <a:spcPts val="2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字节序、字段顺序、输出布局这类事，一定要写进注释并配测试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>
                <a:solidFill>
                  <a:srgbClr val="202938"/>
                </a:solidFill>
                <a:latin typeface="微软雅黑"/>
              </a:rPr>
              <a:t/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>
                <a:solidFill>
                  <a:srgbClr val="16284A"/>
                </a:solidFill>
                <a:latin typeface="微软雅黑"/>
              </a:rPr>
              <a:t>三、AI 写的注释质量直接决定后期能不能维护</a:t>
            </a:r>
          </a:p>
          <a:p>
            <a:pPr algn="l" lvl="1">
              <a:lnSpc>
                <a:spcPct val="115000"/>
              </a:lnSpc>
              <a:spcAft>
                <a:spcPts val="2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这个项目要求注释写「为什么」，包括被否决的方案和每个防护挡住的具体故障</a:t>
            </a:r>
          </a:p>
          <a:p>
            <a:pPr algn="l" lvl="1">
              <a:lnSpc>
                <a:spcPct val="115000"/>
              </a:lnSpc>
              <a:spcAft>
                <a:spcPts val="2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回头看，正是这些注释让后面几轮的修改没有把前面的修复推翻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>
                <a:solidFill>
                  <a:srgbClr val="202938"/>
                </a:solidFill>
                <a:latin typeface="微软雅黑"/>
              </a:rPr>
              <a:t/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>
                <a:solidFill>
                  <a:srgbClr val="B03A2B"/>
                </a:solidFill>
                <a:latin typeface="微软雅黑"/>
              </a:rPr>
              <a:t>四、人必须守住「验收标准」</a:t>
            </a:r>
          </a:p>
          <a:p>
            <a:pPr algn="l" lvl="1">
              <a:lnSpc>
                <a:spcPct val="115000"/>
              </a:lnSpc>
              <a:spcAft>
                <a:spcPts val="2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AI 很容易把「编译通过 + 测试通过」当成做完了，但界面好不好看、体验顺不顺，只有人能判断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1371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4000">
                <a:solidFill>
                  <a:srgbClr val="FFFFFF"/>
                </a:solidFill>
                <a:latin typeface="微软雅黑"/>
              </a:rPr>
              <a:t>现在就能试</a:t>
            </a:r>
          </a:p>
        </p:txBody>
      </p:sp>
      <p:sp>
        <p:nvSpPr>
          <p:cNvPr id="4" name="Rectangle 3"/>
          <p:cNvSpPr/>
          <p:nvPr/>
        </p:nvSpPr>
        <p:spPr>
          <a:xfrm>
            <a:off x="1051560" y="2468880"/>
            <a:ext cx="10058400" cy="2148840"/>
          </a:xfrm>
          <a:prstGeom prst="rect">
            <a:avLst/>
          </a:prstGeom>
          <a:solidFill>
            <a:srgbClr val="0E1C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325880" y="2651760"/>
            <a:ext cx="96012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50">
                <a:solidFill>
                  <a:srgbClr val="BFD4F2"/>
                </a:solidFill>
                <a:latin typeface="微软雅黑"/>
              </a:rPr>
              <a:t># 下载免编译的 Linux 包，解包就能跑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50">
                <a:solidFill>
                  <a:srgbClr val="BFD4F2"/>
                </a:solidFill>
                <a:latin typeface="微软雅黑"/>
              </a:rPr>
              <a:t>tar -xzf dchat-linux-x86_64.tar.gz &amp;&amp; cd dchat-linux-x86_64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50">
                <a:solidFill>
                  <a:srgbClr val="BFD4F2"/>
                </a:solidFill>
                <a:latin typeface="微软雅黑"/>
              </a:rPr>
              <a:t>chmod +x dchat_client dchat_server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50">
                <a:solidFill>
                  <a:srgbClr val="BFD4F2"/>
                </a:solidFill>
                <a:latin typeface="微软雅黑"/>
              </a:rPr>
              <a:t>./dchat_client --host 服务器地址 --port 5555 --user 名字 --pass 密码 --register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50">
                <a:solidFill>
                  <a:srgbClr val="BFD4F2"/>
                </a:solidFill>
                <a:latin typeface="微软雅黑"/>
              </a:rPr>
              <a:t/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50">
                <a:solidFill>
                  <a:srgbClr val="BFD4F2"/>
                </a:solidFill>
                <a:latin typeface="微软雅黑"/>
              </a:rPr>
              <a:t># 或者自己开一台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50">
                <a:solidFill>
                  <a:srgbClr val="BFD4F2"/>
                </a:solidFill>
                <a:latin typeface="微软雅黑"/>
              </a:rPr>
              <a:t>./dchat_server --port 5555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4754880"/>
            <a:ext cx="10058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>
                <a:solidFill>
                  <a:srgbClr val="A9C2E8"/>
                </a:solidFill>
                <a:latin typeface="微软雅黑"/>
              </a:rPr>
              <a:t>github.com/dongfang20101113/DChat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>
                <a:solidFill>
                  <a:srgbClr val="A9C2E8"/>
                </a:solidFill>
                <a:latin typeface="微软雅黑"/>
              </a:rPr>
              <a:t>Windows / 安卓 / Linux / macOS 四端 · 端到端加密 · 2115 项测试检查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>
                <a:solidFill>
                  <a:srgbClr val="A9C2E8"/>
                </a:solidFill>
                <a:latin typeface="微软雅黑"/>
              </a:rPr>
              <a:t>实测：连接上限精确生效 · 握手超时 40/40 断开 · 暴破 12/12 拦下 · 内存稳定 10 MB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>
                <a:solidFill>
                  <a:srgbClr val="A9C2E8"/>
                </a:solidFill>
                <a:latin typeface="微软雅黑"/>
              </a:rPr>
              <a:t/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>
                <a:solidFill>
                  <a:srgbClr val="A9C2E8"/>
                </a:solidFill>
                <a:latin typeface="微软雅黑"/>
              </a:rPr>
              <a:t>欢迎试用、提问题、或者直接拿去改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6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