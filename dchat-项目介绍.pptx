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91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600">
                <a:solidFill>
                  <a:srgbClr val="FFFFFF"/>
                </a:solidFill>
                <a:latin typeface="微软雅黑"/>
              </a:rPr>
              <a:t>dchat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>
                <a:solidFill>
                  <a:srgbClr val="A9C2E8"/>
                </a:solidFill>
                <a:latin typeface="微软雅黑"/>
              </a:rPr>
              <a:t>一个自研的局域网 / 公网聊天室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29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8FADD8"/>
                </a:solidFill>
                <a:latin typeface="微软雅黑"/>
              </a:rPr>
              <a:t>Windows · 安卓 · Linux · macOS 四端互通 · 端到端加密 · 逐行手写的协议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206240"/>
            <a:ext cx="292608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5720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>
                <a:solidFill>
                  <a:srgbClr val="C7D7EF"/>
                </a:solidFill>
                <a:latin typeface="微软雅黑"/>
              </a:rPr>
              <a:t>项目介绍 · 功能与架构 · 开发过程梗概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>
                <a:solidFill>
                  <a:srgbClr val="C7D7EF"/>
                </a:solidFill>
                <a:latin typeface="微软雅黑"/>
              </a:rPr>
              <a:t>以及 AI 在整个过程中的使用情况与真实复盘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8704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7E9BC6"/>
                </a:solidFill>
                <a:latin typeface="微软雅黑"/>
              </a:rPr>
              <a:t>github.com/dongfang20101113/DChat   ·   69 次提交 / 9 天   ·   四端自有代码 2.27 万行（实现 + 测试 + 安卓）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1996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7E9BC6"/>
                </a:solidFill>
                <a:latin typeface="微软雅黑"/>
              </a:rPr>
              <a:t>2231 项测试全过   ·   端到端加密   ·   压测与攻击实测防护生效   ·   内存稳定 10 MB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2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0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2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3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2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5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这个项目是什么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一句话：不依赖任何聊天框架，从协议到加密自己搭的四端聊天系统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定位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局域网里几个人就能开聊；配上端口映射也能跑公网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服务端一个人跑，客户端随手拷走就能用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四端互通：Windows、安卓、Linux、macOS 互发消息 / 文件 / 语音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技术上刻意选择的难点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协议自己定：行式 UTF-8，每行一条命令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加密自己做：ECDH 握手 + AES-256-GCM，不发明原语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四端字节级一致：同一条消息在四端解出来必须一模一样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界面自己画：桌面端 GDI+ 自绘气泡，不用现成 UI 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234440"/>
            <a:ext cx="5212080" cy="214884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47104" y="132588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它不是玩具的地方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7104" y="1691640"/>
            <a:ext cx="49194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有账号体系：PBKDF2 加盐哈希，不存明文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有公网加固：连接数上限、防爆破、握手超时、限速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 TOFU：记住服务器指纹，指纹变了会明确警告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有测试：四端合计 2231 项检查（C++ 1903 + 安卓 328）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566160"/>
            <a:ext cx="5212080" cy="224028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47104" y="365760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代码规模（实测，不含 build 产物）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4023360"/>
            <a:ext cx="49194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C++ 协议层 + 服务端 + 客户端：17,817 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安卓 Kotlin：10,853 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测试代码：4,064 行（16 个测试程序）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另有工具脚本 5,190 行（压测、画图、打包）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2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0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2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3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2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5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整体架构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四个客户端共用一份协议层源码，服务端三端都能跑</a:t>
            </a:r>
          </a:p>
        </p:txBody>
      </p:sp>
      <p:pic>
        <p:nvPicPr>
          <p:cNvPr id="3" name="Picture 2" descr="diagram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48" y="1097280"/>
            <a:ext cx="8654142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Windows / Linux / macOS 三个客户端与服务端共用同一份 C++ 协议层；安卓端是 Kotlin 重写，靠同一套测试向量保证行为一致。协议刻意选「行式文本」：能用 telnet 手工测、加字段只追加不重排——字段按位置解析，附件种类放在第 7 格，插到中间老客户端就会把标记当字节数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>
                          <p:par>
                            <p:cTn id="9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1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6" dur="4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功能一览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四端都有的功能，以及各自特有的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828800"/>
                <a:gridCol w="1828800"/>
                <a:gridCol w="1828800"/>
                <a:gridCol w="1828800"/>
              </a:tblGrid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功能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Windows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安卓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Linux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macOS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连接 / 注册 / 登录 / 改密码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群聊 + 多行消息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彩色文字（&amp;a 快捷色 / #rrggbb）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 + 取色盘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 + 取色盘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文件上传下载（含进度、重名处理）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语音消息（录制 / 播放 / 自动下载）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未测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表情与贴纸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贴纸按附件收发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贴纸按附件收发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指令 + Tab 补全 / 历史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图片与视频缩略图预览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有（系统缩略图）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深色模式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跟随系统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跟随系统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跟随终端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跟随系统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界面形态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Win32 自绘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Compose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终端 TUI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Cocoa 原生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Linux 端是终端界面，因此没有图片预览；贴纸按普通附件收发，不做内联渲染。macOS 的语音消息这一项没测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>
                          <p:par>
                            <p:cTn id="9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1" dur="4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界面实拍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左边是桌面端的界面效果图（离屏渲染，复用真界面的配色与字号）</a:t>
            </a:r>
          </a:p>
        </p:txBody>
      </p:sp>
      <p:pic>
        <p:nvPicPr>
          <p:cNvPr id="3" name="Picture 2" descr="ui-proposal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23" y="1143000"/>
            <a:ext cx="5860472" cy="4114800"/>
          </a:xfrm>
          <a:prstGeom prst="rect">
            <a:avLst/>
          </a:prstGeom>
        </p:spPr>
      </p:pic>
      <p:pic>
        <p:nvPicPr>
          <p:cNvPr id="4" name="Picture 3" descr="chat-phone-393x851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492" y="1143000"/>
            <a:ext cx="1900254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安卓截图由 Robolectric 在真实布局上渲染得出，不是手绘示意图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2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7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9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加密设计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ECDH P-256 握手 → HKDF-SHA256 派生 → AES-256-GCM 会话加密</a:t>
            </a:r>
          </a:p>
        </p:txBody>
      </p:sp>
      <p:pic>
        <p:nvPicPr>
          <p:cNvPr id="3" name="Picture 2" descr="diagram-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051560"/>
            <a:ext cx="868680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5257800"/>
            <a:ext cx="5532120" cy="123444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3504" y="5349240"/>
            <a:ext cx="5239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保护什么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5715000"/>
            <a:ext cx="5239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被动窃听：抓包看不到密码和聊天内容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篡改：GCM 自带认证，改一个字节就解不开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5257800"/>
            <a:ext cx="5532120" cy="123444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9944" y="5349240"/>
            <a:ext cx="5239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不保护什么（写进代码注释了）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5715000"/>
            <a:ext cx="5239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主动中间人：裸 ECDH 没有身份认证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所以有 TOFU：第一次记住指纹，之后每次比对，变了就警告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2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0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2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3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2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5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服务端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Windows 和 Linux 跑同一份源码，只换 socket 层和加密后端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6284A"/>
                </a:solidFill>
                <a:latin typeface="微软雅黑"/>
              </a:rPr>
              <a:t>并发模型：每个连接一个线程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聊天是低并发 IO，线程模型足够，也不需要 epoll 的复杂度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6284A"/>
                </a:solidFill>
                <a:latin typeface="微软雅黑"/>
              </a:rPr>
              <a:t>账号与安全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PBKDF2-HMAC-SHA256 加盐，落盘的只有哈希和盐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身份密钥落盘（标量 + 公钥的十六进制），TOFU 才有意义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公网加固：连接数上限、单 IP 上限、登录失败封禁、握手超时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可调规则：限速、文本长度与行数、暂存附件保留时长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6284A"/>
                </a:solidFill>
                <a:latin typeface="微软雅黑"/>
              </a:rPr>
              <a:t>控制台指令：/ban /kick /op /say /chatrule /ip 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188720"/>
            <a:ext cx="5212080" cy="210312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47104" y="128016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F6FEB"/>
                </a:solidFill>
                <a:latin typeface="微软雅黑"/>
              </a:rPr>
              <a:t>跨平台移植只动了两个地方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7104" y="1645920"/>
            <a:ext cx="4919472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socket 层：Winsock → POSIX（封在 socket_util.h 后面）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加密后端：CNG → OpenSSL（封在 crypto_backend.h 后面）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业务代码一个字没改——移植点越少，越不容易改出新 bug。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520440"/>
            <a:ext cx="5212080" cy="228600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47104" y="361188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被 socket 层挡住的两个坑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3977639"/>
            <a:ext cx="4919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SIGPIPE：Linux 上往已关闭的连接写，默认直接杀掉整个进程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→ 所有发送都走带 MSG_NOSIGNAL 的封装，绝不裸调 send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keepalive：Windows 用 WSAIoctl 一次设好，Linux 要三个独立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setsockopt → 数值定成同一组，两端发现死连接的时间才一致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2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0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2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3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2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5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开发过程梗概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69 次提交、9 天，按提交信息可以分成七个阶段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43000"/>
          <a:ext cx="1106423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666"/>
                <a:gridCol w="6396513"/>
                <a:gridCol w="2766060"/>
              </a:tblGrid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做了什么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关键产物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第 1 天  起步与第二个端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C++ 客户端 + 服务端先跑通；随即加安卓客户端（Kotlin + Compose）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协议层、气泡界面、三端格局成型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第 2 天  公网加固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限速、文本限制、多行消息、连接数上限、防爆破、握手超时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可调规则系统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第 3 天  加密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ECDH + HKDF + AES-GCM，从协议层一路接到三端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TOFU 指纹闭环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第 4~5 天  功能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表情、贴纸、语音（录制/播放/自动下载）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附件种类字段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第 6 天  界面返工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重新设计桌面端界面：菜单栏、齿轮设置、＋菜单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离屏渲染效果图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第 7 天  彩蛋与修复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彩色文字代码端到端；修 6 处用户反馈 + 1 处自己引入的回归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取色盘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第 8~9 天  第三个端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Linux：加密后端抽象、服务端移植、终端客户端、预编译包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741 项 Linux 检查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66928" y="4526280"/>
            <a:ext cx="5440680" cy="192024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4617720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F6FEB"/>
                </a:solidFill>
                <a:latin typeface="微软雅黑"/>
              </a:rPr>
              <a:t>几个改变了走向的决定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83480"/>
            <a:ext cx="51480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加密放在第 3 天而不是第 1 天：先跑通聊天、摸熟协议再套加密，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   否则每次调协议都要先怀疑是不是加密错了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先立「附件种类字段」再加功能：表情/贴纸/语音都走这一条路径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4526280"/>
            <a:ext cx="5440680" cy="192024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45936" y="4617720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6C0C"/>
                </a:solidFill>
                <a:latin typeface="微软雅黑"/>
              </a:rPr>
              <a:t>吃过亏的地方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4983480"/>
            <a:ext cx="51480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界面被退回重做两次（「太丑」「太挤」）→ 先离屏渲染三套方案再写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新端放最后且先做密码学：真正的风险是「各端算出来的字节不一样」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时间按提交日期归并，不是精确工时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2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0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2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怎么证明它是对的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这个项目里「验证」和「写代码」花的力气差不多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/>
                <a:gridCol w="7223759"/>
              </a:tblGrid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验证手段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规模 / 结果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Windows 端 17 个测试程序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1025 项检查，全部通过；构建 0 告警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Linux 端 12 个测试程序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892 项检查，全部通过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安卓端单元测试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328 个测试、19 个测试类，全部通过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密码学测试向量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HKDF 对 RFC 5869、AES-GCM 对 NIST、ECDH 固定向量、与 Kotlin 跨语言比对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四端互通实测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四端同服务器互相收发；macOS ↔ Windows / Linux / Android 双向互发、附件互传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文件传输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200 KB 随机文件往返，MD5 逐字节一致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语音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虚拟机里真录音 3 秒 → 上传成功；WAV 时长解析在真实录音上 1/2/5 秒全对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预编译包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从 tar 包解出来直接跑，全程无 cmake、不装任何依赖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测试能跑起来，是后面所有「修 bug」动作的前提——没有测试就只能靠肉眼猜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>
                          <p:par>
                            <p:cTn id="9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1" dur="4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安全设计：纵深防御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没有单点神话，是四层叠起来——每一层都假设上一层可能被绕过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1064240" cy="1115568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>
                <a:solidFill>
                  <a:srgbClr val="1F6FEB"/>
                </a:solidFill>
                <a:latin typeface="微软雅黑"/>
              </a:rPr>
              <a:t>第 1 层  传输加密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4754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ECDH P-256 · HKDF-SHA256 · AES-256-GCM 逐条认证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1408176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>
                <a:solidFill>
                  <a:srgbClr val="6C7584"/>
                </a:solidFill>
                <a:latin typeface="微软雅黑"/>
              </a:rPr>
              <a:t>抓包看不到密码与内容；改一字节就解不开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25295"/>
            <a:ext cx="3246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1F6FEB"/>
                </a:solidFill>
                <a:latin typeface="微软雅黑"/>
              </a:rPr>
              <a:t>畸形数据 11 类全部未命中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04288"/>
            <a:ext cx="11064240" cy="1115568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>
                <a:solidFill>
                  <a:srgbClr val="168A57"/>
                </a:solidFill>
                <a:latin typeface="微软雅黑"/>
              </a:rPr>
              <a:t>第 2 层  身份与信任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4754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TOFU 指纹：第一次记住，之后每次比对，变了就中止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596896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>
                <a:solidFill>
                  <a:srgbClr val="6C7584"/>
                </a:solidFill>
                <a:latin typeface="微软雅黑"/>
              </a:rPr>
              <a:t>服务器密钥被换掉时立刻明确警告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14016"/>
            <a:ext cx="3246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168A57"/>
                </a:solidFill>
                <a:latin typeface="微软雅黑"/>
              </a:rPr>
              <a:t>与 Kotlin 跨语言握手比对一致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93008"/>
            <a:ext cx="11064240" cy="1115568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5478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>
                <a:solidFill>
                  <a:srgbClr val="B06C0C"/>
                </a:solidFill>
                <a:latin typeface="微软雅黑"/>
              </a:rPr>
              <a:t>第 3 层  资源与准入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13632"/>
            <a:ext cx="4754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连接上限 · 单 IP 上限 · 握手超时 · 限速 · 发言间隔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785616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>
                <a:solidFill>
                  <a:srgbClr val="6C7584"/>
                </a:solidFill>
                <a:latin typeface="微软雅黑"/>
              </a:rPr>
              <a:t>把占着连接不说话、狂建连接在入口掐掉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602736"/>
            <a:ext cx="3246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B06C0C"/>
                </a:solidFill>
                <a:latin typeface="微软雅黑"/>
              </a:rPr>
              <a:t>洪泛 200 条 → 正好 60 存活 / 140 被拒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B06C0C"/>
                </a:solidFill>
                <a:latin typeface="微软雅黑"/>
              </a:rPr>
              <a:t>慢速 40 条 × 25 秒 → 40/40 按时断开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681728"/>
            <a:ext cx="11064240" cy="1115568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47365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>
                <a:solidFill>
                  <a:srgbClr val="B03A2B"/>
                </a:solidFill>
                <a:latin typeface="微软雅黑"/>
              </a:rPr>
              <a:t>第 4 层  凭据保护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02352"/>
            <a:ext cx="4754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PBKDF2-HMAC-SHA256 加盐 · 登录失败窗口封禁 · 不落盘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974336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>
                <a:solidFill>
                  <a:srgbClr val="6C7584"/>
                </a:solidFill>
                <a:latin typeface="微软雅黑"/>
              </a:rPr>
              <a:t>拖走账号文件也拿不到密码；在线暴破被时间窗限住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791456"/>
            <a:ext cx="3246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B03A2B"/>
                </a:solidFill>
                <a:latin typeface="微软雅黑"/>
              </a:rPr>
              <a:t>错密码 12 次 → 12/12 被拒，一次没登上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四层互相独立：加密被绕过仍有指纹，指纹被忽略仍有连接上限，上限被绕开仍有凭据哈希。右栏是每层的实测证据（真服务端），攻击后内存稳定 9.3–10.3 MB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3" presetID="10" presetClass="entr" presetSubtype="0" fill="hold" grpId="0" nodeType="withEffect">
                              <p:stCondLst>
                                <p:cond delay="360"/>
                              </p:stCondLst>
                              <p:childTnLst>
                                <p:set>
                                  <p:cBhvr>
                                    <p:cTn id="1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5" dur="4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6" presetID="10" presetClass="entr" presetSubtype="0" fill="hold" grpId="0" nodeType="withEffect">
                              <p:stCondLst>
                                <p:cond delay="480"/>
                              </p:stCondLst>
                              <p:childTnLst>
                                <p:set>
                                  <p:cBhvr>
                                    <p:cTn id="1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8" dur="4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9" presetID="10" presetClass="entr" presetSubtype="0" fill="hold" grpId="0" nodeType="withEffect">
                              <p:stCondLst>
                                <p:cond delay="600"/>
                              </p:stCondLst>
                              <p:childTnLst>
                                <p:set>
                                  <p:cBhvr>
                                    <p:cTn id="2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1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6" dur="4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2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9" dur="4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0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3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2" dur="4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3" presetID="10" presetClass="entr" presetSubtype="0" fill="hold" grpId="0" nodeType="withEffect">
                              <p:stCondLst>
                                <p:cond delay="360"/>
                              </p:stCondLst>
                              <p:childTnLst>
                                <p:set>
                                  <p:cBhvr>
                                    <p:cTn id="3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5" dur="4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6" presetID="10" presetClass="entr" presetSubtype="0" fill="hold" grpId="0" nodeType="withEffect">
                              <p:stCondLst>
                                <p:cond delay="480"/>
                              </p:stCondLst>
                              <p:childTnLst>
                                <p:set>
                                  <p:cBhvr>
                                    <p:cTn id="3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8" dur="4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9" presetID="10" presetClass="entr" presetSubtype="0" fill="hold" grpId="0" nodeType="withEffect">
                              <p:stCondLst>
                                <p:cond delay="600"/>
                              </p:stCondLst>
                              <p:childTnLst>
                                <p:set>
                                  <p:cBhvr>
                                    <p:cTn id="4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1" dur="4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>
                          <p:par>
                            <p:cTn id="4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6" dur="4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4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9" dur="4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0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5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2" dur="4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3" presetID="10" presetClass="entr" presetSubtype="0" fill="hold" grpId="0" nodeType="withEffect">
                              <p:stCondLst>
                                <p:cond delay="360"/>
                              </p:stCondLst>
                              <p:childTnLst>
                                <p:set>
                                  <p:cBhvr>
                                    <p:cTn id="5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5" dur="4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6" presetID="10" presetClass="entr" presetSubtype="0" fill="hold" grpId="0" nodeType="withEffect">
                              <p:stCondLst>
                                <p:cond delay="480"/>
                              </p:stCondLst>
                              <p:childTnLst>
                                <p:set>
                                  <p:cBhvr>
                                    <p:cTn id="5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8" dur="4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9" presetID="10" presetClass="entr" presetSubtype="0" fill="hold" grpId="0" nodeType="withEffect">
                              <p:stCondLst>
                                <p:cond delay="600"/>
                              </p:stCondLst>
                              <p:childTnLst>
                                <p:set>
                                  <p:cBhvr>
                                    <p:cTn id="6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1" dur="4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攻击对比曲线：连接上限与慢速耗尽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左边是「建太多」、右边是「占着不动」——两类攻击都被硬性拦住</a:t>
            </a:r>
          </a:p>
        </p:txBody>
      </p:sp>
      <p:pic>
        <p:nvPicPr>
          <p:cNvPr id="3" name="Picture 2" descr="chart-conn-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32788"/>
            <a:ext cx="5715000" cy="2286000"/>
          </a:xfrm>
          <a:prstGeom prst="rect">
            <a:avLst/>
          </a:prstGeom>
        </p:spPr>
      </p:pic>
      <p:pic>
        <p:nvPicPr>
          <p:cNvPr id="4" name="Picture 3" descr="chart-time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2788"/>
            <a:ext cx="571500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864608"/>
            <a:ext cx="3657600" cy="169164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4956048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68A57"/>
                </a:solidFill>
                <a:latin typeface="微软雅黑"/>
              </a:rPr>
              <a:t>连接上限：硬封顶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321808"/>
            <a:ext cx="33649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左侧蓝线在 60 处变成水平——是硬封顶，不是「大概拦一拦」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右侧红线严格 1:1：超出多少拒多少，一条不漏也不多拒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4864608"/>
            <a:ext cx="3657600" cy="169164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89704" y="4956048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6C0C"/>
                </a:solidFill>
                <a:latin typeface="微软雅黑"/>
              </a:rPr>
              <a:t>慢速耗尽：按时清零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9704" y="5321808"/>
            <a:ext cx="33649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三条阶跃线精确落在设定值（5/10/20 秒），无延迟漂移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无论配置多长最终都清零，攻击者拿不到「一直占着」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4864608"/>
            <a:ext cx="3520440" cy="169164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4464" y="4956048"/>
            <a:ext cx="3227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F6FEB"/>
                </a:solidFill>
                <a:latin typeface="微软雅黑"/>
              </a:rPr>
              <a:t>数据来源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5321808"/>
            <a:ext cx="322783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8 个连接数测试点 + 3 种超时配置，各有实测记录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复现：tools/loadtest.cpp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关闭前先回一条 ERROR，用户看得懂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5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8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1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2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3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6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8" dur="4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9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3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1" dur="4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2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3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4" dur="4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9" grpId="0"/>
      <p:bldP spid="10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补上三项能力：历史落盘 · 离线消息 · 断点续传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都是「以前直接丢掉」的东西：重启后记录没了、你不在线消息没了、断了要重下；顺带把文件暂存从内存搬到磁盘、加了每夜自动重启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3611880" cy="265176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3319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F6FEB"/>
                </a:solidFill>
                <a:latin typeface="微软雅黑"/>
              </a:rPr>
              <a:t>① 聊天历史落盘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31927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原来只在内存（std::deque），重启即丢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改成追加写 + 上限压实 + 每秒节流 flush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崩溃写了一半的那行会被丢弃（宁可少一条，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   不能凭空多一条残缺消息）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序号持久化：离线补发靠它判断谁还没看过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5968" y="1143000"/>
            <a:ext cx="3611880" cy="265176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462272" y="1234440"/>
            <a:ext cx="3319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68A57"/>
                </a:solidFill>
                <a:latin typeface="微软雅黑"/>
              </a:rPr>
              <a:t>② 离线消息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1600200"/>
            <a:ext cx="331927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每用户记「读到第几条」，存在 dchat-seen.txt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重新登录只补他错过的，条数由规则限制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与 keepchathistory 不重复：有进度的只补差额，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   新用户仍看完整历史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默认关闭，升级后行为完全不变</a:t>
            </a:r>
          </a:p>
        </p:txBody>
      </p:sp>
      <p:sp>
        <p:nvSpPr>
          <p:cNvPr id="9" name="Rectangle 8"/>
          <p:cNvSpPr/>
          <p:nvPr/>
        </p:nvSpPr>
        <p:spPr>
          <a:xfrm>
            <a:off x="8065008" y="1143000"/>
            <a:ext cx="3611880" cy="265176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11312" y="1234440"/>
            <a:ext cx="3319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6C0C"/>
                </a:solidFill>
                <a:latin typeface="微软雅黑"/>
              </a:rPr>
              <a:t>③ 文件断点续传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600200"/>
            <a:ext cx="331927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FILE_GET &lt;id&gt; [已有字节数]，服务器从那儿接着发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客户端先写 .part 中间文件，下完才改名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起点对不上就丢弃重来——绝不硬续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   （那会拼出大小对、内容坏的文件）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超出文件大小直接拒绝，不从头再发一遍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31920"/>
            <a:ext cx="11064240" cy="1371600"/>
          </a:xfrm>
          <a:prstGeom prst="rect">
            <a:avLst/>
          </a:prstGeom>
          <a:solidFill>
            <a:srgbClr val="E8F1FE"/>
          </a:solidFill>
          <a:ln w="15875">
            <a:solidFill>
              <a:srgbClr val="162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" y="4023359"/>
            <a:ext cx="10771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6284A"/>
                </a:solidFill>
                <a:latin typeface="微软雅黑"/>
              </a:rPr>
              <a:t>实测（真机，不是估算）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389120"/>
            <a:ext cx="107716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历史：kill -9 强杀后重启，记录仍在（loaded 1 history line …末序号 1）；手工塞入半行记录被正确丢弃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离线：A 下线期间 B 发两条，A 重登收到「你不在的时候有 2 条消息」，且不重复自己在线时那条；默认规则下不补发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续传：64 KB 文件下到 46.0 KB 时掐断，重连后服务端日志 「从 46.0 KB 处续传」，最终文件 md5 与源文件完全一致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存储改磁盘：24 MB 上传后 RSS 只涨 52 KB（以前涨 24 MB）；过期 / 淘汰 / 重启都清磁盘文件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440680"/>
            <a:ext cx="11064240" cy="118872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5532120"/>
            <a:ext cx="10771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3A2B"/>
                </a:solidFill>
                <a:latin typeface="微软雅黑"/>
              </a:rPr>
              <a:t>一个差点造成事故的兼容性问题（值得记）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897880"/>
            <a:ext cx="10771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我原本让服务器在 FILE_BEGIN 后追加一格回显续传起点，看起来完全合理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但 Windows 客户端写的是 fields.size() != 3 —— 要求恰好 3 格，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多一格会让它静默忽略 FILE_BEGIN、下载整个失效且不报错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改成不回显（客户端自己记着请求的 offset），并顺手把那个 != 3 放宽成 &lt; 3 —— 否则下一个追加字段的人还会踩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3" presetID="10" presetClass="entr" presetSubtype="0" fill="hold" grpId="0" nodeType="withEffect">
                              <p:stCondLst>
                                <p:cond delay="360"/>
                              </p:stCondLst>
                              <p:childTnLst>
                                <p:set>
                                  <p:cBhvr>
                                    <p:cTn id="1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5" dur="4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8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1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2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3" dur="4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4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2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6" dur="4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7" presetID="10" presetClass="entr" presetSubtype="0" fill="hold" grpId="0" nodeType="withEffect">
                              <p:stCondLst>
                                <p:cond delay="360"/>
                              </p:stCondLst>
                              <p:childTnLst>
                                <p:set>
                                  <p:cBhvr>
                                    <p:cTn id="2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9" dur="4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>
                          <p:par>
                            <p:cTn id="32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4" dur="4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5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3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7" dur="4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8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3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0" dur="4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10" grpId="0"/>
      <p:bldP spid="11" grpId="0"/>
      <p:bldP spid="13" grpId="0"/>
      <p:bldP spid="14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补上注册路径：从发现缺口到实测修复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有人问「疯狂注册换 IP 是不是防不住」——实测确实防不住，于是补掉了</a:t>
            </a:r>
          </a:p>
        </p:txBody>
      </p:sp>
      <p:pic>
        <p:nvPicPr>
          <p:cNvPr id="3" name="Picture 2" descr="chart-regi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526" y="932688"/>
            <a:ext cx="5847906" cy="2514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3611880"/>
            <a:ext cx="3657600" cy="118872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" y="3703320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>
                <a:solidFill>
                  <a:srgbClr val="B03A2B"/>
                </a:solidFill>
                <a:latin typeface="微软雅黑"/>
              </a:rPr>
              <a:t>缺口是什么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069080"/>
            <a:ext cx="3364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原有防护全部基于 IP：换 IP 即失效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注册路径当时零限制、零拦截记录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洪水期间正常用户消息 105 ms → 超时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3611880"/>
            <a:ext cx="3657600" cy="118872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89704" y="3703320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>
                <a:solidFill>
                  <a:srgbClr val="1F6FEB"/>
                </a:solidFill>
                <a:latin typeface="微软雅黑"/>
              </a:rPr>
              <a:t>怎么修的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4069080"/>
            <a:ext cx="3364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新增两条规则：registerinterval / maxaccounts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IP 冷却抬成本，总量上限兜底（换 IP 也绕不过）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顺带修掉全量重写账号文件与重复算名单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611880"/>
            <a:ext cx="3520440" cy="118872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4464" y="3703320"/>
            <a:ext cx="3227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>
                <a:solidFill>
                  <a:srgbClr val="168A57"/>
                </a:solidFill>
                <a:latin typeface="微软雅黑"/>
              </a:rPr>
              <a:t>不误伤验证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4069080"/>
            <a:ext cx="32278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首次 IP 新用户 2 ms 注册成功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已注册用户登录发言不受影响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>
                <a:solidFill>
                  <a:srgbClr val="202938"/>
                </a:solidFill>
                <a:latin typeface="微软雅黑"/>
              </a:rPr>
              <a:t>· 44 项单测把放行/拒绝两个方向都钉死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4956048"/>
          <a:ext cx="110642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5120640"/>
                <a:gridCol w="1463040"/>
              </a:tblGrid>
              <a:tr h="2024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规则（共 18 条，全部是运行时参数）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作用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默认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2024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maxconns / maxconnsperip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连接总数 / 同一 IP 上限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024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loginfails / handshaketimeout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登录失败封禁 / 握手超时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0 / 30 秒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2024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registerinterval / maxaccounts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注册冷却 / 账号总量上限（本次新增）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024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uploadrate / downloadrate / chatinterval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上传下载限速 / 发言间隔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2024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maxtextlen / maxtextlines / documentsize / maxservertemp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文本长度 / 行数 / 单文件 / 暂存总量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0 / 64MB / 1024MB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024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offlinemessages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重登录时最多补发多少条离线消息（本次新增）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0（不补发）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5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8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1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2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3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6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8" dur="4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9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3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1" dur="4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性能实测与安全边界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左边是能做到的，右边是明确做不到的——两栏都要看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5486400" cy="242316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1261872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性能与稳定性（实测）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27632"/>
            <a:ext cx="519379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16 客户端持续压测：处理 474,296 条消息，墙钟 2.4 秒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服务端 CPU 17 秒（多核并行，广播式分发）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空载内存 9.2 MB；攻击 + 压测全程 9.8–10.8 MB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全程零崩溃、零重启；单文件静态二进制，无外部依赖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200 条并发建连 6 ms（本机回环，非广域网指标）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吞吐与服务端日志逐条计数核对过，不是写缓冲假象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4768" y="1170432"/>
            <a:ext cx="5486400" cy="242316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91072" y="1261872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安全边界（明确做不到）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627632"/>
            <a:ext cx="519379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主动中间人：裸 ECDH 没有身份认证，能劫持线路的人理论上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可以分别和两端握手——要挡它需要证书或预共享密钥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网络层大流量 DDoS：本项目只做应用层防护，流量清洗要靠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上游运营商 / 云清洗 / CDN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端到端加密：服务端能解密消息（它要转发、要存历史）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密码找回、多设备同步、消息签名——都没有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767328"/>
            <a:ext cx="11064240" cy="201168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3858768"/>
            <a:ext cx="10771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为什么两栏要放在同一页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24528"/>
            <a:ext cx="107716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单看左边会以为「这服务器打不死」，单看右边会以为「防护很弱」——都不对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实测数字证明的是「规则按设计生效」，不是「扛得住任何流量」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安全材料里最危险的不是「防护少」，而是「你以为防护了很多」；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  使用者按错误假设去用，风险比明说大得多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这不是事后补的：项目从第一版加密起就在 crypto.h 里写着「不保护主动中间人」，README 照抄同一句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5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8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3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5" dur="4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6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2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8" dur="4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四端互通：全部组合实测通过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Windows · Linux · macOS · Android 同一个服务器，两两之间互相都能看到消息</a:t>
            </a:r>
          </a:p>
        </p:txBody>
      </p:sp>
      <p:pic>
        <p:nvPicPr>
          <p:cNvPr id="3" name="Picture 2" descr="chart-inte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960120"/>
            <a:ext cx="8534400" cy="3840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983480"/>
            <a:ext cx="3657600" cy="155448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" y="5074920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68A57"/>
                </a:solidFill>
                <a:latin typeface="微软雅黑"/>
              </a:rPr>
              <a:t>这次补上了什么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440680"/>
            <a:ext cx="3364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macOS 首次真机编译：零报错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原先只做过静态验证（交叉编译）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现在补上了运行与互通验证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那张「不夸大」图已改成「已实测」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4983480"/>
            <a:ext cx="3657600" cy="155448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89704" y="5074920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F6FEB"/>
                </a:solidFill>
                <a:latin typeface="微软雅黑"/>
              </a:rPr>
              <a:t>已验证的功能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5440680"/>
            <a:ext cx="3364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登录 / 收发消息（与另外三个平台双向互发）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四端同时在线，互相都看得到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附件（文件）在端之间传过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彩色文字在 mac 上显示正常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4983480"/>
            <a:ext cx="3520440" cy="155448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4464" y="5074920"/>
            <a:ext cx="3227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6C0C"/>
                </a:solidFill>
                <a:latin typeface="微软雅黑"/>
              </a:rPr>
              <a:t>为什么不全部涂绿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5440680"/>
            <a:ext cx="32278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语音消息没测，那一行标红写「未测」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灰色格是这一轮没测的组合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标出来比统一涂绿更有用：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  下一个要补的地方一目了然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5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8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1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2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3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6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8" dur="4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9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3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1" dur="4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四端统一：会话逻辑只有一处实现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Linux 终端界面也接上了共用的 chat_core —— 界面只负责「怎么显示」</a:t>
            </a:r>
          </a:p>
        </p:txBody>
      </p:sp>
      <p:pic>
        <p:nvPicPr>
          <p:cNvPr id="3" name="Picture 2" descr="chart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928" y="960120"/>
            <a:ext cx="7651102" cy="37490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892040"/>
            <a:ext cx="3657600" cy="164592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" y="4983479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F6FEB"/>
                </a:solidFill>
                <a:latin typeface="微软雅黑"/>
              </a:rPr>
              <a:t>Linux 界面这次改了什么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349240"/>
            <a:ext cx="3364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原先自己解析协议、自己分派 9 个指令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现在实现 ChatCoreDelegate，不再持有连接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渲染抽成纯函数 cli_render（可单测）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界面只剩：读键 / 画输入行 / 打输出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4892040"/>
            <a:ext cx="3657600" cy="164592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89704" y="4983479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68A57"/>
                </a:solidFill>
                <a:latin typeface="微软雅黑"/>
              </a:rPr>
              <a:t>界面终于能自动化测了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5349240"/>
            <a:ext cx="3364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用伪终端（pty）驱动真客户端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35 项：收发 / 补全 / 色码 / 退格删中文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还有附件（下载内容逐字节核对）与语音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以前这块完全没有自动化覆盖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4892040"/>
            <a:ext cx="3520440" cy="164592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4464" y="4983479"/>
            <a:ext cx="3227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6C0C"/>
                </a:solidFill>
                <a:latin typeface="微软雅黑"/>
              </a:rPr>
              <a:t>一个值得记的教训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5349240"/>
            <a:ext cx="3227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这批测试第一版报了 6 项失败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逐条查下来，6 项全是测试自己写错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client_core 新加 35 项渲染单测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测试失败先怀疑测试，别急着改代码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5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8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1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2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3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6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8" dur="4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9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3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1" dur="4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macOS 端：原生 Cocoa 界面 + 如实标注的验证边界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开发机上没有 Mac，所以「能编的都编了、能查的都查了」，但从未真机运行</a:t>
            </a:r>
          </a:p>
        </p:txBody>
      </p:sp>
      <p:pic>
        <p:nvPicPr>
          <p:cNvPr id="3" name="Picture 2" descr="chart-macos-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417" y="1005840"/>
            <a:ext cx="7858125" cy="4023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5166360"/>
            <a:ext cx="3657600" cy="137160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" y="5257800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F6FEB"/>
                </a:solidFill>
                <a:latin typeface="微软雅黑"/>
              </a:rPr>
              <a:t>为 macOS 改了什么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623560"/>
            <a:ext cx="3364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没有 MSG_NOSIGNAL → 用 SO_NOSIGPIPE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TCP_KEEPIDLE 改叫 TCP_KEEPALIVE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htons 是宏：加了 :: 反而编不过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5166360"/>
            <a:ext cx="3657600" cy="137160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89704" y="5257800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68A57"/>
                </a:solidFill>
                <a:latin typeface="微软雅黑"/>
              </a:rPr>
              <a:t>客户端分了层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5623560"/>
            <a:ext cx="3364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client_core/ 可移植核心：网络/信任/附件/颜色/语音/会话逻辑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linux/client/ 与 macos/main.mm 只剩界面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界面能编不了也不怕：逻辑都在能验证的核心层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5166360"/>
            <a:ext cx="3520440" cy="137160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4464" y="5257800"/>
            <a:ext cx="3227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6C0C"/>
                </a:solidFill>
                <a:latin typeface="微软雅黑"/>
              </a:rPr>
              <a:t>怎么在没有 Mac 时查错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5623560"/>
            <a:ext cx="3227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zig 交叉编译成真 Mach-O 二进制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18 个文件 × 两个架构全通过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文本层查 selector / 括号 / 声明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5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8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1" presetID="10" presetClass="entr" presetSubtype="0" fill="hold" grpId="0" nodeType="withEffect">
                              <p:stCondLst>
                                <p:cond delay="240"/>
                              </p:stCondLst>
                              <p:childTnLst>
                                <p:set>
                                  <p:cBhvr>
                                    <p:cTn id="2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3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6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8" dur="4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9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3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1" dur="4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几个真实的 bug（和它们为什么难查）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共同点：不报错、不崩，只是「结果悄悄不对」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39"/>
                <a:gridCol w="6858000"/>
              </a:tblGrid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现象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真正的原因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桌面端所有自绘按钮突然不显示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SetWindowLongPtrW 的返回值被丢掉了，导致 CallWindowProcW 收到空指针——按钮画不出来，窗口还被永久置为无效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附件卡片完全不显示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FILE_OFFER 第一格是上传者昵称，被当成了附件 ID；又漏剥了消息里的 hh:mm 时间戳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跨端握手永远失败，但没有任何报错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CNG 的私钥 blob 里标量是小端，OpenSSL 的 BIGNUM 是大端。不翻转的话「同一个标量」其实是两个数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取色盘点某个位置出来的是别的颜色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SV 方块的四角伸进了色环，命中测试先命中了色环——单元测试按采样点比对才抓出来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上传完不知道自己文件的附件 ID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服务端只广播给别人，把上传者排除了；而 ID 是服务端分配的，客户端无从猜测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这五个里有四个是靠测试或服务端日志定位的，只有一个（按钮不显示）是用户先发现、再回头查的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>
                          <p:par>
                            <p:cTn id="9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1" dur="4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AI 真实搞砸的地方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这一页比上一页更有用——都是这个项目里实际发生的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15568"/>
          <a:ext cx="1106424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760720"/>
                <a:gridCol w="3017520"/>
              </a:tblGrid>
              <a:tr h="525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翻车方式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具体发生了什么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后来的做法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过度宽泛的批量替换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用词边界正则替换 SOCKET，把 SOL_SOCKET 改成了 SOL_sock::Handle，整个文件编不过，只能回退重来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替换改成按整行精确匹配，并写成脚本执行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对运行环境想当然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服务端进程还占着 exe，链接直接失败报 Permission denied，一度以为是代码问题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先看错误正文，再动手改代码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忽视自己写过的规则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测试脚本给服务端传位置参数 5599，实际参数是 --port，端口没生效，白折腾一轮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跑之前先确认命令行语法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工具链知识缺失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std::string 会间接引入 windows.h，把 winsock2.h 挡掉，报错却是「sock 未声明」，很误导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记住 winsock2 必须在任何标准库头之前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自造的测试也写错过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把「时长未知」的 -1 当成非法值去断言，测试红了但产品是对的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202938"/>
                          </a:solidFill>
                          <a:latin typeface="微软雅黑"/>
                        </a:rPr>
                        <a:t>先想清楚语义，再写断言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66928" y="4434840"/>
            <a:ext cx="5440680" cy="224028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4526279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F6FEB"/>
                </a:solidFill>
                <a:latin typeface="微软雅黑"/>
              </a:rPr>
              <a:t>分工：AI 做了什么 / 人做了什么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892040"/>
            <a:ext cx="51480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AI 写全部代码的第一版（C++ / Kotlin / Python 一样）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AI 跑构建、跑测试、读日志、定位失败；操作 Kali 做跨平台验证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人定优先级、在真机试并给界面反馈、定项目约定、管仓库与发布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人做的是「判断」：什么该先做、什么算做完、哪些结论不能写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4434840"/>
            <a:ext cx="5440680" cy="224028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45936" y="4526279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68A57"/>
                </a:solidFill>
                <a:latin typeface="微软雅黑"/>
              </a:rPr>
              <a:t>AI 最有效的三个用法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4892040"/>
            <a:ext cx="51480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① 写可被测试的纯逻辑：解析/判定/格式化抽成纯函数，一改就能验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② 交叉核对而不是相信「应该对」：写探针把中间量打出来逐字节 diff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③ 顺着日志往下挖：临时日志 + strace 看实际发出的字节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④ 知道它会怎么错，才知道该在哪些地方加检查（就是左边那五条）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>
                          <p:par>
                            <p:cTn id="12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" presetID="10" presetClass="entr" presetSubtype="0" fill="hold" grpId="0" nodeType="withEffect">
                              <p:stCondLst>
                                <p:cond delay="12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>
                          <p:par>
                            <p:cTn id="20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2" dur="4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从这次开发里得到的结论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如果你也想用 AI 做这种规模的项目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16284A"/>
                </a:solidFill>
                <a:latin typeface="微软雅黑"/>
              </a:rPr>
              <a:t>一、测试不是「有空再写」，是让 AI 能干活的前提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没有测试的代码，改一处要重跑整个程序靠肉眼确认；有测试的模块，改完一条命令就知道对不对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这个项目里几乎每个真 bug 最后都变成了一条新的断言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16284A"/>
                </a:solidFill>
                <a:latin typeface="微软雅黑"/>
              </a:rPr>
              <a:t>二、跨平台 / 跨语言的项目，先立「一致性契约」再写业务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跨端一致性不是靠小心，是靠同一套测试向量 + 明确的书面约定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字节序、字段顺序、输出布局这类事，一定要写进注释并配测试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16284A"/>
                </a:solidFill>
                <a:latin typeface="微软雅黑"/>
              </a:rPr>
              <a:t>三、AI 写的注释质量直接决定后期能不能维护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这个项目要求注释写「为什么」，包括被否决的方案和每个防护挡住的具体故障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回头看，正是这些注释让后面几轮的修改没有把前面的修复推翻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B03A2B"/>
                </a:solidFill>
                <a:latin typeface="微软雅黑"/>
              </a:rPr>
              <a:t>四、人必须守住「验收标准」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AI 很容易把「编译通过 + 测试通过」当成做完了，但界面好不好看、体验顺不顺，只有人能判断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>
                          <p:par>
                            <p:cTn id="4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>
                          <p:par>
                            <p:cTn id="9" presetID="10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1" dur="4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